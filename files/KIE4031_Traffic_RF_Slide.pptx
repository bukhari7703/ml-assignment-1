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heddar" panose="020B0604020202020204" charset="0"/>
      <p:regular r:id="rId9"/>
    </p:embeddedFont>
    <p:embeddedFont>
      <p:font typeface="Telegraf 1" panose="020B0604020202020204" charset="0"/>
      <p:regular r:id="rId10"/>
    </p:embeddedFont>
    <p:embeddedFont>
      <p:font typeface="Telegraf 1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735386" y="8209899"/>
            <a:ext cx="1260008" cy="1653948"/>
          </a:xfrm>
          <a:custGeom>
            <a:avLst/>
            <a:gdLst/>
            <a:ahLst/>
            <a:cxnLst/>
            <a:rect l="l" t="t" r="r" b="b"/>
            <a:pathLst>
              <a:path w="1260008" h="1653948">
                <a:moveTo>
                  <a:pt x="0" y="0"/>
                </a:moveTo>
                <a:lnTo>
                  <a:pt x="1260007" y="0"/>
                </a:lnTo>
                <a:lnTo>
                  <a:pt x="1260007" y="1653948"/>
                </a:lnTo>
                <a:lnTo>
                  <a:pt x="0" y="165394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3" name="Group 3"/>
          <p:cNvGrpSpPr/>
          <p:nvPr/>
        </p:nvGrpSpPr>
        <p:grpSpPr>
          <a:xfrm>
            <a:off x="6868527" y="5489538"/>
            <a:ext cx="4550946" cy="905000"/>
            <a:chOff x="0" y="0"/>
            <a:chExt cx="1146356" cy="227964"/>
          </a:xfrm>
        </p:grpSpPr>
        <p:sp>
          <p:nvSpPr>
            <p:cNvPr id="4" name="Freeform 4"/>
            <p:cNvSpPr/>
            <p:nvPr/>
          </p:nvSpPr>
          <p:spPr>
            <a:xfrm>
              <a:off x="0" y="0"/>
              <a:ext cx="1146356" cy="227964"/>
            </a:xfrm>
            <a:custGeom>
              <a:avLst/>
              <a:gdLst/>
              <a:ahLst/>
              <a:cxnLst/>
              <a:rect l="l" t="t" r="r" b="b"/>
              <a:pathLst>
                <a:path w="1146356" h="227964">
                  <a:moveTo>
                    <a:pt x="86760" y="0"/>
                  </a:moveTo>
                  <a:lnTo>
                    <a:pt x="1059596" y="0"/>
                  </a:lnTo>
                  <a:cubicBezTo>
                    <a:pt x="1107512" y="0"/>
                    <a:pt x="1146356" y="38844"/>
                    <a:pt x="1146356" y="86760"/>
                  </a:cubicBezTo>
                  <a:lnTo>
                    <a:pt x="1146356" y="141205"/>
                  </a:lnTo>
                  <a:cubicBezTo>
                    <a:pt x="1146356" y="164215"/>
                    <a:pt x="1137215" y="186282"/>
                    <a:pt x="1120945" y="202553"/>
                  </a:cubicBezTo>
                  <a:cubicBezTo>
                    <a:pt x="1104674" y="218823"/>
                    <a:pt x="1082606" y="227964"/>
                    <a:pt x="1059596" y="227964"/>
                  </a:cubicBezTo>
                  <a:lnTo>
                    <a:pt x="86760" y="227964"/>
                  </a:lnTo>
                  <a:cubicBezTo>
                    <a:pt x="38844" y="227964"/>
                    <a:pt x="0" y="189121"/>
                    <a:pt x="0" y="141205"/>
                  </a:cubicBezTo>
                  <a:lnTo>
                    <a:pt x="0" y="86760"/>
                  </a:lnTo>
                  <a:cubicBezTo>
                    <a:pt x="0" y="38844"/>
                    <a:pt x="38844" y="0"/>
                    <a:pt x="86760" y="0"/>
                  </a:cubicBezTo>
                  <a:close/>
                </a:path>
              </a:pathLst>
            </a:custGeom>
            <a:solidFill>
              <a:srgbClr val="02B676"/>
            </a:solidFill>
          </p:spPr>
          <p:txBody>
            <a:bodyPr/>
            <a:lstStyle/>
            <a:p>
              <a:endParaRPr lang="en-GB"/>
            </a:p>
          </p:txBody>
        </p:sp>
        <p:sp>
          <p:nvSpPr>
            <p:cNvPr id="5" name="TextBox 5"/>
            <p:cNvSpPr txBox="1"/>
            <p:nvPr/>
          </p:nvSpPr>
          <p:spPr>
            <a:xfrm>
              <a:off x="0" y="-95250"/>
              <a:ext cx="1146356" cy="323214"/>
            </a:xfrm>
            <a:prstGeom prst="rect">
              <a:avLst/>
            </a:prstGeom>
          </p:spPr>
          <p:txBody>
            <a:bodyPr lIns="50800" tIns="50800" rIns="50800" bIns="50800" rtlCol="0" anchor="ctr"/>
            <a:lstStyle/>
            <a:p>
              <a:pPr algn="ctr">
                <a:lnSpc>
                  <a:spcPts val="4199"/>
                </a:lnSpc>
                <a:spcBef>
                  <a:spcPct val="0"/>
                </a:spcBef>
              </a:pPr>
              <a:r>
                <a:rPr lang="en-US" sz="2999" b="1">
                  <a:solidFill>
                    <a:srgbClr val="FFFFFF"/>
                  </a:solidFill>
                  <a:latin typeface="Telegraf 1 Bold"/>
                  <a:ea typeface="Telegraf 1 Bold"/>
                  <a:cs typeface="Telegraf 1 Bold"/>
                  <a:sym typeface="Telegraf 1 Bold"/>
                </a:rPr>
                <a:t>PRESENTED BY:</a:t>
              </a:r>
            </a:p>
          </p:txBody>
        </p:sp>
      </p:grpSp>
      <p:sp>
        <p:nvSpPr>
          <p:cNvPr id="7" name="TextBox 7"/>
          <p:cNvSpPr txBox="1"/>
          <p:nvPr/>
        </p:nvSpPr>
        <p:spPr>
          <a:xfrm>
            <a:off x="4796851" y="85725"/>
            <a:ext cx="8694298" cy="2562224"/>
          </a:xfrm>
          <a:prstGeom prst="rect">
            <a:avLst/>
          </a:prstGeom>
        </p:spPr>
        <p:txBody>
          <a:bodyPr lIns="0" tIns="0" rIns="0" bIns="0" rtlCol="0" anchor="t">
            <a:spAutoFit/>
          </a:bodyPr>
          <a:lstStyle/>
          <a:p>
            <a:pPr algn="ctr">
              <a:lnSpc>
                <a:spcPts val="8999"/>
              </a:lnSpc>
            </a:pPr>
            <a:r>
              <a:rPr lang="en-US" sz="9999">
                <a:solidFill>
                  <a:srgbClr val="290606"/>
                </a:solidFill>
                <a:latin typeface="Cheddar"/>
                <a:ea typeface="Cheddar"/>
                <a:cs typeface="Cheddar"/>
                <a:sym typeface="Cheddar"/>
              </a:rPr>
              <a:t>KIE4031 </a:t>
            </a:r>
          </a:p>
          <a:p>
            <a:pPr algn="ctr">
              <a:lnSpc>
                <a:spcPts val="8999"/>
              </a:lnSpc>
            </a:pPr>
            <a:r>
              <a:rPr lang="en-US" sz="9999">
                <a:solidFill>
                  <a:srgbClr val="290606"/>
                </a:solidFill>
                <a:latin typeface="Cheddar"/>
                <a:ea typeface="Cheddar"/>
                <a:cs typeface="Cheddar"/>
                <a:sym typeface="Cheddar"/>
              </a:rPr>
              <a:t>MACHINE LEARNING</a:t>
            </a:r>
          </a:p>
        </p:txBody>
      </p:sp>
      <p:sp>
        <p:nvSpPr>
          <p:cNvPr id="8" name="TextBox 8"/>
          <p:cNvSpPr txBox="1"/>
          <p:nvPr/>
        </p:nvSpPr>
        <p:spPr>
          <a:xfrm>
            <a:off x="1028700" y="2695574"/>
            <a:ext cx="16230600" cy="2118359"/>
          </a:xfrm>
          <a:prstGeom prst="rect">
            <a:avLst/>
          </a:prstGeom>
        </p:spPr>
        <p:txBody>
          <a:bodyPr lIns="0" tIns="0" rIns="0" bIns="0" rtlCol="0" anchor="t">
            <a:spAutoFit/>
          </a:bodyPr>
          <a:lstStyle/>
          <a:p>
            <a:pPr algn="ctr">
              <a:lnSpc>
                <a:spcPts val="5399"/>
              </a:lnSpc>
            </a:pPr>
            <a:r>
              <a:rPr lang="en-US" sz="5399" b="1" dirty="0">
                <a:solidFill>
                  <a:srgbClr val="211C2D"/>
                </a:solidFill>
                <a:latin typeface="Telegraf 1 Bold"/>
                <a:ea typeface="Telegraf 1 Bold"/>
                <a:cs typeface="Telegraf 1 Bold"/>
                <a:sym typeface="Telegraf 1 Bold"/>
              </a:rPr>
              <a:t>AI-DRIVEN TRAFFIC MANAGEMENT: A MACHINE LEARNING FRAMEWORK FOR SMART CITY CONGESTION</a:t>
            </a:r>
          </a:p>
        </p:txBody>
      </p:sp>
      <p:graphicFrame>
        <p:nvGraphicFramePr>
          <p:cNvPr id="9" name="Table 8">
            <a:extLst>
              <a:ext uri="{FF2B5EF4-FFF2-40B4-BE49-F238E27FC236}">
                <a16:creationId xmlns:a16="http://schemas.microsoft.com/office/drawing/2014/main" id="{4FE3FB73-F3DC-A85A-8368-685C63B8A903}"/>
              </a:ext>
            </a:extLst>
          </p:cNvPr>
          <p:cNvGraphicFramePr>
            <a:graphicFrameLocks noGrp="1"/>
          </p:cNvGraphicFramePr>
          <p:nvPr>
            <p:extLst>
              <p:ext uri="{D42A27DB-BD31-4B8C-83A1-F6EECF244321}">
                <p14:modId xmlns:p14="http://schemas.microsoft.com/office/powerpoint/2010/main" val="2773108683"/>
              </p:ext>
            </p:extLst>
          </p:nvPr>
        </p:nvGraphicFramePr>
        <p:xfrm>
          <a:off x="3048000" y="6933884"/>
          <a:ext cx="11963400" cy="2285961"/>
        </p:xfrm>
        <a:graphic>
          <a:graphicData uri="http://schemas.openxmlformats.org/drawingml/2006/table">
            <a:tbl>
              <a:tblPr/>
              <a:tblGrid>
                <a:gridCol w="6934200">
                  <a:extLst>
                    <a:ext uri="{9D8B030D-6E8A-4147-A177-3AD203B41FA5}">
                      <a16:colId xmlns:a16="http://schemas.microsoft.com/office/drawing/2014/main" val="338386608"/>
                    </a:ext>
                  </a:extLst>
                </a:gridCol>
                <a:gridCol w="5029200">
                  <a:extLst>
                    <a:ext uri="{9D8B030D-6E8A-4147-A177-3AD203B41FA5}">
                      <a16:colId xmlns:a16="http://schemas.microsoft.com/office/drawing/2014/main" val="5333150"/>
                    </a:ext>
                  </a:extLst>
                </a:gridCol>
              </a:tblGrid>
              <a:tr h="698488">
                <a:tc>
                  <a:txBody>
                    <a:bodyPr/>
                    <a:lstStyle/>
                    <a:p>
                      <a:pPr>
                        <a:buNone/>
                      </a:pPr>
                      <a:r>
                        <a:rPr lang="en-GB" sz="2400">
                          <a:effectLst/>
                          <a:latin typeface="Telegraf 1" panose="020B0604020202020204" charset="0"/>
                        </a:rPr>
                        <a:t>Name</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02B676"/>
                    </a:solidFill>
                  </a:tcPr>
                </a:tc>
                <a:tc>
                  <a:txBody>
                    <a:bodyPr/>
                    <a:lstStyle/>
                    <a:p>
                      <a:pPr>
                        <a:buNone/>
                      </a:pPr>
                      <a:r>
                        <a:rPr lang="en-GB" sz="2400">
                          <a:effectLst/>
                          <a:latin typeface="Telegraf 1" panose="020B0604020202020204" charset="0"/>
                        </a:rPr>
                        <a:t>Matrics Number</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02B676"/>
                    </a:solidFill>
                  </a:tcPr>
                </a:tc>
                <a:extLst>
                  <a:ext uri="{0D108BD9-81ED-4DB2-BD59-A6C34878D82A}">
                    <a16:rowId xmlns:a16="http://schemas.microsoft.com/office/drawing/2014/main" val="3234003625"/>
                  </a:ext>
                </a:extLst>
              </a:tr>
              <a:tr h="888985">
                <a:tc>
                  <a:txBody>
                    <a:bodyPr/>
                    <a:lstStyle/>
                    <a:p>
                      <a:pPr>
                        <a:buNone/>
                      </a:pPr>
                      <a:r>
                        <a:rPr lang="en-GB" sz="2400" dirty="0">
                          <a:effectLst/>
                          <a:latin typeface="Telegraf 1" panose="020B0604020202020204" charset="0"/>
                        </a:rPr>
                        <a:t>Muhamad Rashidul Bukhari Bin Asan Mohamed</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D9F4CD"/>
                    </a:solidFill>
                  </a:tcPr>
                </a:tc>
                <a:tc>
                  <a:txBody>
                    <a:bodyPr/>
                    <a:lstStyle/>
                    <a:p>
                      <a:pPr>
                        <a:buNone/>
                      </a:pPr>
                      <a:r>
                        <a:rPr lang="en-GB" sz="2400">
                          <a:effectLst/>
                          <a:latin typeface="Telegraf 1" panose="020B0604020202020204" charset="0"/>
                        </a:rPr>
                        <a:t>22004502/1</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D9F4CD"/>
                    </a:solidFill>
                  </a:tcPr>
                </a:tc>
                <a:extLst>
                  <a:ext uri="{0D108BD9-81ED-4DB2-BD59-A6C34878D82A}">
                    <a16:rowId xmlns:a16="http://schemas.microsoft.com/office/drawing/2014/main" val="2804499981"/>
                  </a:ext>
                </a:extLst>
              </a:tr>
              <a:tr h="698488">
                <a:tc>
                  <a:txBody>
                    <a:bodyPr/>
                    <a:lstStyle/>
                    <a:p>
                      <a:pPr>
                        <a:buNone/>
                      </a:pPr>
                      <a:r>
                        <a:rPr lang="de-DE" sz="2400" dirty="0">
                          <a:effectLst/>
                          <a:latin typeface="Telegraf 1" panose="020B0604020202020204" charset="0"/>
                        </a:rPr>
                        <a:t>Zul Arif Nael Bin Zul Adenan</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GB" sz="2400" dirty="0">
                          <a:effectLst/>
                          <a:latin typeface="Telegraf 1" panose="020B0604020202020204" charset="0"/>
                        </a:rPr>
                        <a:t>U2101223/2</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37670586"/>
                  </a:ext>
                </a:extLst>
              </a:tr>
            </a:tbl>
          </a:graphicData>
        </a:graphic>
      </p:graphicFrame>
      <p:sp>
        <p:nvSpPr>
          <p:cNvPr id="10" name="Rectangle 1">
            <a:extLst>
              <a:ext uri="{FF2B5EF4-FFF2-40B4-BE49-F238E27FC236}">
                <a16:creationId xmlns:a16="http://schemas.microsoft.com/office/drawing/2014/main" id="{B13112DA-1782-8096-3F7B-CD76C288B602}"/>
              </a:ext>
            </a:extLst>
          </p:cNvPr>
          <p:cNvSpPr>
            <a:spLocks noChangeArrowheads="1"/>
          </p:cNvSpPr>
          <p:nvPr/>
        </p:nvSpPr>
        <p:spPr bwMode="auto">
          <a:xfrm>
            <a:off x="3429000" y="6972142"/>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TextBox 2"/>
          <p:cNvSpPr txBox="1"/>
          <p:nvPr/>
        </p:nvSpPr>
        <p:spPr>
          <a:xfrm>
            <a:off x="741618" y="487363"/>
            <a:ext cx="9813867" cy="1073150"/>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BACKGROUND &amp; CASE STUDY</a:t>
            </a:r>
          </a:p>
        </p:txBody>
      </p:sp>
      <p:grpSp>
        <p:nvGrpSpPr>
          <p:cNvPr id="3" name="Group 3"/>
          <p:cNvGrpSpPr/>
          <p:nvPr/>
        </p:nvGrpSpPr>
        <p:grpSpPr>
          <a:xfrm>
            <a:off x="113091" y="1701768"/>
            <a:ext cx="4251601" cy="7843605"/>
            <a:chOff x="0" y="0"/>
            <a:chExt cx="1151022" cy="2123474"/>
          </a:xfrm>
        </p:grpSpPr>
        <p:sp>
          <p:nvSpPr>
            <p:cNvPr id="4" name="Freeform 4"/>
            <p:cNvSpPr/>
            <p:nvPr/>
          </p:nvSpPr>
          <p:spPr>
            <a:xfrm>
              <a:off x="0" y="0"/>
              <a:ext cx="1151022" cy="2123474"/>
            </a:xfrm>
            <a:custGeom>
              <a:avLst/>
              <a:gdLst/>
              <a:ahLst/>
              <a:cxnLst/>
              <a:rect l="l" t="t" r="r" b="b"/>
              <a:pathLst>
                <a:path w="1151022" h="2123474">
                  <a:moveTo>
                    <a:pt x="92868" y="0"/>
                  </a:moveTo>
                  <a:lnTo>
                    <a:pt x="1058154" y="0"/>
                  </a:lnTo>
                  <a:cubicBezTo>
                    <a:pt x="1109444" y="0"/>
                    <a:pt x="1151022" y="41578"/>
                    <a:pt x="1151022" y="92868"/>
                  </a:cubicBezTo>
                  <a:lnTo>
                    <a:pt x="1151022" y="2030606"/>
                  </a:lnTo>
                  <a:cubicBezTo>
                    <a:pt x="1151022" y="2081895"/>
                    <a:pt x="1109444" y="2123474"/>
                    <a:pt x="1058154" y="2123474"/>
                  </a:cubicBezTo>
                  <a:lnTo>
                    <a:pt x="92868" y="2123474"/>
                  </a:lnTo>
                  <a:cubicBezTo>
                    <a:pt x="41578" y="2123474"/>
                    <a:pt x="0" y="2081895"/>
                    <a:pt x="0" y="2030606"/>
                  </a:cubicBezTo>
                  <a:lnTo>
                    <a:pt x="0" y="92868"/>
                  </a:lnTo>
                  <a:cubicBezTo>
                    <a:pt x="0" y="41578"/>
                    <a:pt x="41578" y="0"/>
                    <a:pt x="92868" y="0"/>
                  </a:cubicBezTo>
                  <a:close/>
                </a:path>
              </a:pathLst>
            </a:custGeom>
            <a:solidFill>
              <a:srgbClr val="02B676"/>
            </a:solidFill>
          </p:spPr>
          <p:txBody>
            <a:bodyPr/>
            <a:lstStyle/>
            <a:p>
              <a:endParaRPr lang="en-GB"/>
            </a:p>
          </p:txBody>
        </p:sp>
        <p:sp>
          <p:nvSpPr>
            <p:cNvPr id="5" name="TextBox 5"/>
            <p:cNvSpPr txBox="1"/>
            <p:nvPr/>
          </p:nvSpPr>
          <p:spPr>
            <a:xfrm>
              <a:off x="0" y="9525"/>
              <a:ext cx="1151022" cy="2113949"/>
            </a:xfrm>
            <a:prstGeom prst="rect">
              <a:avLst/>
            </a:prstGeom>
          </p:spPr>
          <p:txBody>
            <a:bodyPr lIns="50800" tIns="50800" rIns="50800" bIns="50800" rtlCol="0" anchor="ctr"/>
            <a:lstStyle/>
            <a:p>
              <a:pPr algn="ctr">
                <a:lnSpc>
                  <a:spcPts val="2200"/>
                </a:lnSpc>
              </a:pPr>
              <a:endParaRPr/>
            </a:p>
          </p:txBody>
        </p:sp>
      </p:grpSp>
      <p:grpSp>
        <p:nvGrpSpPr>
          <p:cNvPr id="6" name="Group 6"/>
          <p:cNvGrpSpPr/>
          <p:nvPr/>
        </p:nvGrpSpPr>
        <p:grpSpPr>
          <a:xfrm>
            <a:off x="224130" y="1806514"/>
            <a:ext cx="4140562" cy="7738859"/>
            <a:chOff x="0" y="0"/>
            <a:chExt cx="1120961" cy="2095116"/>
          </a:xfrm>
        </p:grpSpPr>
        <p:sp>
          <p:nvSpPr>
            <p:cNvPr id="7" name="Freeform 7"/>
            <p:cNvSpPr/>
            <p:nvPr/>
          </p:nvSpPr>
          <p:spPr>
            <a:xfrm>
              <a:off x="0" y="0"/>
              <a:ext cx="1120961" cy="2095116"/>
            </a:xfrm>
            <a:custGeom>
              <a:avLst/>
              <a:gdLst/>
              <a:ahLst/>
              <a:cxnLst/>
              <a:rect l="l" t="t" r="r" b="b"/>
              <a:pathLst>
                <a:path w="1120961" h="2095116">
                  <a:moveTo>
                    <a:pt x="95359" y="0"/>
                  </a:moveTo>
                  <a:lnTo>
                    <a:pt x="1025602" y="0"/>
                  </a:lnTo>
                  <a:cubicBezTo>
                    <a:pt x="1078267" y="0"/>
                    <a:pt x="1120961" y="42693"/>
                    <a:pt x="1120961" y="95359"/>
                  </a:cubicBezTo>
                  <a:lnTo>
                    <a:pt x="1120961" y="1999758"/>
                  </a:lnTo>
                  <a:cubicBezTo>
                    <a:pt x="1120961" y="2052423"/>
                    <a:pt x="1078267" y="2095116"/>
                    <a:pt x="1025602" y="2095116"/>
                  </a:cubicBezTo>
                  <a:lnTo>
                    <a:pt x="95359" y="2095116"/>
                  </a:lnTo>
                  <a:cubicBezTo>
                    <a:pt x="42693" y="2095116"/>
                    <a:pt x="0" y="2052423"/>
                    <a:pt x="0" y="1999758"/>
                  </a:cubicBezTo>
                  <a:lnTo>
                    <a:pt x="0" y="95359"/>
                  </a:lnTo>
                  <a:cubicBezTo>
                    <a:pt x="0" y="42693"/>
                    <a:pt x="42693" y="0"/>
                    <a:pt x="95359" y="0"/>
                  </a:cubicBezTo>
                  <a:close/>
                </a:path>
              </a:pathLst>
            </a:custGeom>
            <a:solidFill>
              <a:srgbClr val="FFFFFF"/>
            </a:solidFill>
          </p:spPr>
          <p:txBody>
            <a:bodyPr/>
            <a:lstStyle/>
            <a:p>
              <a:endParaRPr lang="en-GB"/>
            </a:p>
          </p:txBody>
        </p:sp>
        <p:sp>
          <p:nvSpPr>
            <p:cNvPr id="8" name="TextBox 8"/>
            <p:cNvSpPr txBox="1"/>
            <p:nvPr/>
          </p:nvSpPr>
          <p:spPr>
            <a:xfrm>
              <a:off x="0" y="9525"/>
              <a:ext cx="1120961" cy="2085591"/>
            </a:xfrm>
            <a:prstGeom prst="rect">
              <a:avLst/>
            </a:prstGeom>
          </p:spPr>
          <p:txBody>
            <a:bodyPr lIns="50800" tIns="50800" rIns="50800" bIns="50800" rtlCol="0" anchor="ctr"/>
            <a:lstStyle/>
            <a:p>
              <a:pPr algn="ctr">
                <a:lnSpc>
                  <a:spcPts val="2200"/>
                </a:lnSpc>
              </a:pPr>
              <a:endParaRPr/>
            </a:p>
          </p:txBody>
        </p:sp>
      </p:grpSp>
      <p:sp>
        <p:nvSpPr>
          <p:cNvPr id="9" name="TextBox 9"/>
          <p:cNvSpPr txBox="1"/>
          <p:nvPr/>
        </p:nvSpPr>
        <p:spPr>
          <a:xfrm>
            <a:off x="158569" y="1983256"/>
            <a:ext cx="4160643" cy="615949"/>
          </a:xfrm>
          <a:prstGeom prst="rect">
            <a:avLst/>
          </a:prstGeom>
        </p:spPr>
        <p:txBody>
          <a:bodyPr lIns="0" tIns="0" rIns="0" bIns="0" rtlCol="0" anchor="t">
            <a:spAutoFit/>
          </a:bodyPr>
          <a:lstStyle/>
          <a:p>
            <a:pPr algn="ctr">
              <a:lnSpc>
                <a:spcPts val="3999"/>
              </a:lnSpc>
            </a:pPr>
            <a:r>
              <a:rPr lang="en-US" sz="3999">
                <a:solidFill>
                  <a:srgbClr val="290606"/>
                </a:solidFill>
                <a:latin typeface="Cheddar"/>
                <a:ea typeface="Cheddar"/>
                <a:cs typeface="Cheddar"/>
                <a:sym typeface="Cheddar"/>
              </a:rPr>
              <a:t>INTRODUCTION</a:t>
            </a:r>
          </a:p>
        </p:txBody>
      </p:sp>
      <p:sp>
        <p:nvSpPr>
          <p:cNvPr id="10" name="TextBox 10"/>
          <p:cNvSpPr txBox="1"/>
          <p:nvPr/>
        </p:nvSpPr>
        <p:spPr>
          <a:xfrm>
            <a:off x="17841" y="2691264"/>
            <a:ext cx="4135441" cy="6420484"/>
          </a:xfrm>
          <a:prstGeom prst="rect">
            <a:avLst/>
          </a:prstGeom>
        </p:spPr>
        <p:txBody>
          <a:bodyPr lIns="0" tIns="0" rIns="0" bIns="0" rtlCol="0" anchor="t">
            <a:spAutoFit/>
          </a:bodyPr>
          <a:lstStyle/>
          <a:p>
            <a:pPr marL="561345" lvl="1" indent="-280673" algn="just">
              <a:lnSpc>
                <a:spcPts val="3640"/>
              </a:lnSpc>
              <a:buFont typeface="Arial"/>
              <a:buChar char="•"/>
            </a:pPr>
            <a:r>
              <a:rPr lang="en-US" sz="2600">
                <a:solidFill>
                  <a:srgbClr val="290606"/>
                </a:solidFill>
                <a:latin typeface="Telegraf 1"/>
                <a:ea typeface="Telegraf 1"/>
                <a:cs typeface="Telegraf 1"/>
                <a:sym typeface="Telegraf 1"/>
              </a:rPr>
              <a:t>Rapid urbanization is straining municipal infrastructure, making congestion a primary concern for modern city planners.</a:t>
            </a:r>
          </a:p>
          <a:p>
            <a:pPr marL="561345" lvl="1" indent="-280673" algn="just">
              <a:lnSpc>
                <a:spcPts val="3640"/>
              </a:lnSpc>
              <a:buFont typeface="Arial"/>
              <a:buChar char="•"/>
            </a:pPr>
            <a:r>
              <a:rPr lang="en-US" sz="2600" b="1">
                <a:solidFill>
                  <a:srgbClr val="290606"/>
                </a:solidFill>
                <a:latin typeface="Telegraf 1 Bold"/>
                <a:ea typeface="Telegraf 1 Bold"/>
                <a:cs typeface="Telegraf 1 Bold"/>
                <a:sym typeface="Telegraf 1 Bold"/>
              </a:rPr>
              <a:t>Intelligent Transport Systems (ITS</a:t>
            </a:r>
            <a:r>
              <a:rPr lang="en-US" sz="2600">
                <a:solidFill>
                  <a:srgbClr val="290606"/>
                </a:solidFill>
                <a:latin typeface="Telegraf 1"/>
                <a:ea typeface="Telegraf 1"/>
                <a:cs typeface="Telegraf 1"/>
                <a:sym typeface="Telegraf 1"/>
              </a:rPr>
              <a:t>): A core pillar of smart cities focused on Dynamic traffic management, congestion mitigation and enhancing road safety for all citizens.</a:t>
            </a:r>
          </a:p>
        </p:txBody>
      </p:sp>
      <p:grpSp>
        <p:nvGrpSpPr>
          <p:cNvPr id="11" name="Group 11"/>
          <p:cNvGrpSpPr/>
          <p:nvPr/>
        </p:nvGrpSpPr>
        <p:grpSpPr>
          <a:xfrm>
            <a:off x="4715257" y="1701768"/>
            <a:ext cx="4251601" cy="7843605"/>
            <a:chOff x="0" y="0"/>
            <a:chExt cx="1151022" cy="2123474"/>
          </a:xfrm>
        </p:grpSpPr>
        <p:sp>
          <p:nvSpPr>
            <p:cNvPr id="12" name="Freeform 12"/>
            <p:cNvSpPr/>
            <p:nvPr/>
          </p:nvSpPr>
          <p:spPr>
            <a:xfrm>
              <a:off x="0" y="0"/>
              <a:ext cx="1151022" cy="2123474"/>
            </a:xfrm>
            <a:custGeom>
              <a:avLst/>
              <a:gdLst/>
              <a:ahLst/>
              <a:cxnLst/>
              <a:rect l="l" t="t" r="r" b="b"/>
              <a:pathLst>
                <a:path w="1151022" h="2123474">
                  <a:moveTo>
                    <a:pt x="92868" y="0"/>
                  </a:moveTo>
                  <a:lnTo>
                    <a:pt x="1058154" y="0"/>
                  </a:lnTo>
                  <a:cubicBezTo>
                    <a:pt x="1109444" y="0"/>
                    <a:pt x="1151022" y="41578"/>
                    <a:pt x="1151022" y="92868"/>
                  </a:cubicBezTo>
                  <a:lnTo>
                    <a:pt x="1151022" y="2030606"/>
                  </a:lnTo>
                  <a:cubicBezTo>
                    <a:pt x="1151022" y="2081895"/>
                    <a:pt x="1109444" y="2123474"/>
                    <a:pt x="1058154" y="2123474"/>
                  </a:cubicBezTo>
                  <a:lnTo>
                    <a:pt x="92868" y="2123474"/>
                  </a:lnTo>
                  <a:cubicBezTo>
                    <a:pt x="41578" y="2123474"/>
                    <a:pt x="0" y="2081895"/>
                    <a:pt x="0" y="2030606"/>
                  </a:cubicBezTo>
                  <a:lnTo>
                    <a:pt x="0" y="92868"/>
                  </a:lnTo>
                  <a:cubicBezTo>
                    <a:pt x="0" y="41578"/>
                    <a:pt x="41578" y="0"/>
                    <a:pt x="92868" y="0"/>
                  </a:cubicBezTo>
                  <a:close/>
                </a:path>
              </a:pathLst>
            </a:custGeom>
            <a:solidFill>
              <a:srgbClr val="02B676"/>
            </a:solidFill>
          </p:spPr>
          <p:txBody>
            <a:bodyPr/>
            <a:lstStyle/>
            <a:p>
              <a:endParaRPr lang="en-GB"/>
            </a:p>
          </p:txBody>
        </p:sp>
        <p:sp>
          <p:nvSpPr>
            <p:cNvPr id="13" name="TextBox 13"/>
            <p:cNvSpPr txBox="1"/>
            <p:nvPr/>
          </p:nvSpPr>
          <p:spPr>
            <a:xfrm>
              <a:off x="0" y="9525"/>
              <a:ext cx="1151022" cy="2113949"/>
            </a:xfrm>
            <a:prstGeom prst="rect">
              <a:avLst/>
            </a:prstGeom>
          </p:spPr>
          <p:txBody>
            <a:bodyPr lIns="50800" tIns="50800" rIns="50800" bIns="50800" rtlCol="0" anchor="ctr"/>
            <a:lstStyle/>
            <a:p>
              <a:pPr algn="ctr">
                <a:lnSpc>
                  <a:spcPts val="2200"/>
                </a:lnSpc>
              </a:pPr>
              <a:endParaRPr/>
            </a:p>
          </p:txBody>
        </p:sp>
      </p:grpSp>
      <p:grpSp>
        <p:nvGrpSpPr>
          <p:cNvPr id="14" name="Group 14"/>
          <p:cNvGrpSpPr/>
          <p:nvPr/>
        </p:nvGrpSpPr>
        <p:grpSpPr>
          <a:xfrm>
            <a:off x="4826296" y="1806514"/>
            <a:ext cx="4140562" cy="7738859"/>
            <a:chOff x="0" y="0"/>
            <a:chExt cx="1120961" cy="2095116"/>
          </a:xfrm>
        </p:grpSpPr>
        <p:sp>
          <p:nvSpPr>
            <p:cNvPr id="15" name="Freeform 15"/>
            <p:cNvSpPr/>
            <p:nvPr/>
          </p:nvSpPr>
          <p:spPr>
            <a:xfrm>
              <a:off x="0" y="0"/>
              <a:ext cx="1120961" cy="2095116"/>
            </a:xfrm>
            <a:custGeom>
              <a:avLst/>
              <a:gdLst/>
              <a:ahLst/>
              <a:cxnLst/>
              <a:rect l="l" t="t" r="r" b="b"/>
              <a:pathLst>
                <a:path w="1120961" h="2095116">
                  <a:moveTo>
                    <a:pt x="95359" y="0"/>
                  </a:moveTo>
                  <a:lnTo>
                    <a:pt x="1025602" y="0"/>
                  </a:lnTo>
                  <a:cubicBezTo>
                    <a:pt x="1078267" y="0"/>
                    <a:pt x="1120961" y="42693"/>
                    <a:pt x="1120961" y="95359"/>
                  </a:cubicBezTo>
                  <a:lnTo>
                    <a:pt x="1120961" y="1999758"/>
                  </a:lnTo>
                  <a:cubicBezTo>
                    <a:pt x="1120961" y="2052423"/>
                    <a:pt x="1078267" y="2095116"/>
                    <a:pt x="1025602" y="2095116"/>
                  </a:cubicBezTo>
                  <a:lnTo>
                    <a:pt x="95359" y="2095116"/>
                  </a:lnTo>
                  <a:cubicBezTo>
                    <a:pt x="42693" y="2095116"/>
                    <a:pt x="0" y="2052423"/>
                    <a:pt x="0" y="1999758"/>
                  </a:cubicBezTo>
                  <a:lnTo>
                    <a:pt x="0" y="95359"/>
                  </a:lnTo>
                  <a:cubicBezTo>
                    <a:pt x="0" y="42693"/>
                    <a:pt x="42693" y="0"/>
                    <a:pt x="95359" y="0"/>
                  </a:cubicBezTo>
                  <a:close/>
                </a:path>
              </a:pathLst>
            </a:custGeom>
            <a:solidFill>
              <a:srgbClr val="FFFFFF"/>
            </a:solidFill>
          </p:spPr>
          <p:txBody>
            <a:bodyPr/>
            <a:lstStyle/>
            <a:p>
              <a:endParaRPr lang="en-GB"/>
            </a:p>
          </p:txBody>
        </p:sp>
        <p:sp>
          <p:nvSpPr>
            <p:cNvPr id="16" name="TextBox 16"/>
            <p:cNvSpPr txBox="1"/>
            <p:nvPr/>
          </p:nvSpPr>
          <p:spPr>
            <a:xfrm>
              <a:off x="0" y="9525"/>
              <a:ext cx="1120961" cy="2085591"/>
            </a:xfrm>
            <a:prstGeom prst="rect">
              <a:avLst/>
            </a:prstGeom>
          </p:spPr>
          <p:txBody>
            <a:bodyPr lIns="50800" tIns="50800" rIns="50800" bIns="50800" rtlCol="0" anchor="ctr"/>
            <a:lstStyle/>
            <a:p>
              <a:pPr algn="ctr">
                <a:lnSpc>
                  <a:spcPts val="2200"/>
                </a:lnSpc>
              </a:pPr>
              <a:endParaRPr/>
            </a:p>
          </p:txBody>
        </p:sp>
      </p:grpSp>
      <p:sp>
        <p:nvSpPr>
          <p:cNvPr id="17" name="TextBox 17"/>
          <p:cNvSpPr txBox="1"/>
          <p:nvPr/>
        </p:nvSpPr>
        <p:spPr>
          <a:xfrm>
            <a:off x="4760735" y="1983256"/>
            <a:ext cx="4160643" cy="615949"/>
          </a:xfrm>
          <a:prstGeom prst="rect">
            <a:avLst/>
          </a:prstGeom>
        </p:spPr>
        <p:txBody>
          <a:bodyPr lIns="0" tIns="0" rIns="0" bIns="0" rtlCol="0" anchor="t">
            <a:spAutoFit/>
          </a:bodyPr>
          <a:lstStyle/>
          <a:p>
            <a:pPr algn="ctr">
              <a:lnSpc>
                <a:spcPts val="3999"/>
              </a:lnSpc>
            </a:pPr>
            <a:r>
              <a:rPr lang="en-US" sz="3999">
                <a:solidFill>
                  <a:srgbClr val="290606"/>
                </a:solidFill>
                <a:latin typeface="Cheddar"/>
                <a:ea typeface="Cheddar"/>
                <a:cs typeface="Cheddar"/>
                <a:sym typeface="Cheddar"/>
              </a:rPr>
              <a:t>PROBLEM STATEMENT</a:t>
            </a:r>
          </a:p>
        </p:txBody>
      </p:sp>
      <p:sp>
        <p:nvSpPr>
          <p:cNvPr id="18" name="TextBox 18"/>
          <p:cNvSpPr txBox="1"/>
          <p:nvPr/>
        </p:nvSpPr>
        <p:spPr>
          <a:xfrm>
            <a:off x="4636910" y="2691264"/>
            <a:ext cx="4139447" cy="6877684"/>
          </a:xfrm>
          <a:prstGeom prst="rect">
            <a:avLst/>
          </a:prstGeom>
        </p:spPr>
        <p:txBody>
          <a:bodyPr lIns="0" tIns="0" rIns="0" bIns="0" rtlCol="0" anchor="t">
            <a:spAutoFit/>
          </a:bodyPr>
          <a:lstStyle/>
          <a:p>
            <a:pPr marL="561345" lvl="1" indent="-280673" algn="just">
              <a:lnSpc>
                <a:spcPts val="3640"/>
              </a:lnSpc>
              <a:buFont typeface="Arial"/>
              <a:buChar char="•"/>
            </a:pPr>
            <a:r>
              <a:rPr lang="en-US" sz="2600" b="1">
                <a:solidFill>
                  <a:srgbClr val="290606"/>
                </a:solidFill>
                <a:latin typeface="Telegraf 1 Bold"/>
                <a:ea typeface="Telegraf 1 Bold"/>
                <a:cs typeface="Telegraf 1 Bold"/>
                <a:sym typeface="Telegraf 1 Bold"/>
              </a:rPr>
              <a:t>Static &amp; Reactive Systems: </a:t>
            </a:r>
            <a:r>
              <a:rPr lang="en-US" sz="2600">
                <a:solidFill>
                  <a:srgbClr val="290606"/>
                </a:solidFill>
                <a:latin typeface="Telegraf 1"/>
                <a:ea typeface="Telegraf 1"/>
                <a:cs typeface="Telegraf 1"/>
                <a:sym typeface="Telegraf 1"/>
              </a:rPr>
              <a:t>Fixed, pre-set time cycles </a:t>
            </a:r>
          </a:p>
          <a:p>
            <a:pPr marL="561345" lvl="1" indent="-280673" algn="just">
              <a:lnSpc>
                <a:spcPts val="3640"/>
              </a:lnSpc>
              <a:buFont typeface="Arial"/>
              <a:buChar char="•"/>
            </a:pPr>
            <a:r>
              <a:rPr lang="en-US" sz="2600" b="1">
                <a:solidFill>
                  <a:srgbClr val="290606"/>
                </a:solidFill>
                <a:latin typeface="Telegraf 1 Bold"/>
                <a:ea typeface="Telegraf 1 Bold"/>
                <a:cs typeface="Telegraf 1 Bold"/>
                <a:sym typeface="Telegraf 1 Bold"/>
              </a:rPr>
              <a:t>Manual Intervention Inefficiency:</a:t>
            </a:r>
            <a:r>
              <a:rPr lang="en-US" sz="2600">
                <a:solidFill>
                  <a:srgbClr val="290606"/>
                </a:solidFill>
                <a:latin typeface="Telegraf 1"/>
                <a:ea typeface="Telegraf 1"/>
                <a:cs typeface="Telegraf 1"/>
                <a:sym typeface="Telegraf 1"/>
              </a:rPr>
              <a:t> Heavy human labor during peak hours.</a:t>
            </a:r>
          </a:p>
          <a:p>
            <a:pPr marL="561345" lvl="1" indent="-280673" algn="just">
              <a:lnSpc>
                <a:spcPts val="3640"/>
              </a:lnSpc>
              <a:buFont typeface="Arial"/>
              <a:buChar char="•"/>
            </a:pPr>
            <a:r>
              <a:rPr lang="en-US" sz="2600" b="1">
                <a:solidFill>
                  <a:srgbClr val="290606"/>
                </a:solidFill>
                <a:latin typeface="Telegraf 1 Bold"/>
                <a:ea typeface="Telegraf 1 Bold"/>
                <a:cs typeface="Telegraf 1 Bold"/>
                <a:sym typeface="Telegraf 1 Bold"/>
              </a:rPr>
              <a:t>Environmental Risks</a:t>
            </a:r>
            <a:r>
              <a:rPr lang="en-US" sz="2600">
                <a:solidFill>
                  <a:srgbClr val="290606"/>
                </a:solidFill>
                <a:latin typeface="Telegraf 1"/>
                <a:ea typeface="Telegraf 1"/>
                <a:cs typeface="Telegraf 1"/>
                <a:sym typeface="Telegraf 1"/>
              </a:rPr>
              <a:t>: Unexpected weather  causes traffic spikes and accidents.</a:t>
            </a:r>
          </a:p>
          <a:p>
            <a:pPr marL="561345" lvl="1" indent="-280673" algn="just">
              <a:lnSpc>
                <a:spcPts val="3640"/>
              </a:lnSpc>
              <a:buFont typeface="Arial"/>
              <a:buChar char="•"/>
            </a:pPr>
            <a:r>
              <a:rPr lang="en-US" sz="2600" b="1">
                <a:solidFill>
                  <a:srgbClr val="290606"/>
                </a:solidFill>
                <a:latin typeface="Telegraf 1 Bold"/>
                <a:ea typeface="Telegraf 1 Bold"/>
                <a:cs typeface="Telegraf 1 Bold"/>
                <a:sym typeface="Telegraf 1 Bold"/>
              </a:rPr>
              <a:t>Cost</a:t>
            </a:r>
            <a:r>
              <a:rPr lang="en-US" sz="2600">
                <a:solidFill>
                  <a:srgbClr val="290606"/>
                </a:solidFill>
                <a:latin typeface="Telegraf 1"/>
                <a:ea typeface="Telegraf 1"/>
                <a:cs typeface="Telegraf 1"/>
                <a:sym typeface="Telegraf 1"/>
              </a:rPr>
              <a:t>: Increased travel times, fuel wastage, and severe carbon emissions.</a:t>
            </a:r>
          </a:p>
        </p:txBody>
      </p:sp>
      <p:grpSp>
        <p:nvGrpSpPr>
          <p:cNvPr id="19" name="Group 19"/>
          <p:cNvGrpSpPr/>
          <p:nvPr/>
        </p:nvGrpSpPr>
        <p:grpSpPr>
          <a:xfrm>
            <a:off x="9319283" y="1701768"/>
            <a:ext cx="4251601" cy="7843605"/>
            <a:chOff x="0" y="0"/>
            <a:chExt cx="1151022" cy="2123474"/>
          </a:xfrm>
        </p:grpSpPr>
        <p:sp>
          <p:nvSpPr>
            <p:cNvPr id="20" name="Freeform 20"/>
            <p:cNvSpPr/>
            <p:nvPr/>
          </p:nvSpPr>
          <p:spPr>
            <a:xfrm>
              <a:off x="0" y="0"/>
              <a:ext cx="1151022" cy="2123474"/>
            </a:xfrm>
            <a:custGeom>
              <a:avLst/>
              <a:gdLst/>
              <a:ahLst/>
              <a:cxnLst/>
              <a:rect l="l" t="t" r="r" b="b"/>
              <a:pathLst>
                <a:path w="1151022" h="2123474">
                  <a:moveTo>
                    <a:pt x="92868" y="0"/>
                  </a:moveTo>
                  <a:lnTo>
                    <a:pt x="1058154" y="0"/>
                  </a:lnTo>
                  <a:cubicBezTo>
                    <a:pt x="1109444" y="0"/>
                    <a:pt x="1151022" y="41578"/>
                    <a:pt x="1151022" y="92868"/>
                  </a:cubicBezTo>
                  <a:lnTo>
                    <a:pt x="1151022" y="2030606"/>
                  </a:lnTo>
                  <a:cubicBezTo>
                    <a:pt x="1151022" y="2081895"/>
                    <a:pt x="1109444" y="2123474"/>
                    <a:pt x="1058154" y="2123474"/>
                  </a:cubicBezTo>
                  <a:lnTo>
                    <a:pt x="92868" y="2123474"/>
                  </a:lnTo>
                  <a:cubicBezTo>
                    <a:pt x="41578" y="2123474"/>
                    <a:pt x="0" y="2081895"/>
                    <a:pt x="0" y="2030606"/>
                  </a:cubicBezTo>
                  <a:lnTo>
                    <a:pt x="0" y="92868"/>
                  </a:lnTo>
                  <a:cubicBezTo>
                    <a:pt x="0" y="41578"/>
                    <a:pt x="41578" y="0"/>
                    <a:pt x="92868" y="0"/>
                  </a:cubicBezTo>
                  <a:close/>
                </a:path>
              </a:pathLst>
            </a:custGeom>
            <a:solidFill>
              <a:srgbClr val="02B676"/>
            </a:solidFill>
          </p:spPr>
          <p:txBody>
            <a:bodyPr/>
            <a:lstStyle/>
            <a:p>
              <a:endParaRPr lang="en-GB"/>
            </a:p>
          </p:txBody>
        </p:sp>
        <p:sp>
          <p:nvSpPr>
            <p:cNvPr id="21" name="TextBox 21"/>
            <p:cNvSpPr txBox="1"/>
            <p:nvPr/>
          </p:nvSpPr>
          <p:spPr>
            <a:xfrm>
              <a:off x="0" y="9525"/>
              <a:ext cx="1151022" cy="2113949"/>
            </a:xfrm>
            <a:prstGeom prst="rect">
              <a:avLst/>
            </a:prstGeom>
          </p:spPr>
          <p:txBody>
            <a:bodyPr lIns="50800" tIns="50800" rIns="50800" bIns="50800" rtlCol="0" anchor="ctr"/>
            <a:lstStyle/>
            <a:p>
              <a:pPr algn="ctr">
                <a:lnSpc>
                  <a:spcPts val="2200"/>
                </a:lnSpc>
              </a:pPr>
              <a:endParaRPr/>
            </a:p>
          </p:txBody>
        </p:sp>
      </p:grpSp>
      <p:grpSp>
        <p:nvGrpSpPr>
          <p:cNvPr id="22" name="Group 22"/>
          <p:cNvGrpSpPr/>
          <p:nvPr/>
        </p:nvGrpSpPr>
        <p:grpSpPr>
          <a:xfrm>
            <a:off x="9430322" y="1806514"/>
            <a:ext cx="4140562" cy="7738859"/>
            <a:chOff x="0" y="0"/>
            <a:chExt cx="1120961" cy="2095116"/>
          </a:xfrm>
        </p:grpSpPr>
        <p:sp>
          <p:nvSpPr>
            <p:cNvPr id="23" name="Freeform 23"/>
            <p:cNvSpPr/>
            <p:nvPr/>
          </p:nvSpPr>
          <p:spPr>
            <a:xfrm>
              <a:off x="0" y="0"/>
              <a:ext cx="1120961" cy="2095116"/>
            </a:xfrm>
            <a:custGeom>
              <a:avLst/>
              <a:gdLst/>
              <a:ahLst/>
              <a:cxnLst/>
              <a:rect l="l" t="t" r="r" b="b"/>
              <a:pathLst>
                <a:path w="1120961" h="2095116">
                  <a:moveTo>
                    <a:pt x="95359" y="0"/>
                  </a:moveTo>
                  <a:lnTo>
                    <a:pt x="1025602" y="0"/>
                  </a:lnTo>
                  <a:cubicBezTo>
                    <a:pt x="1078267" y="0"/>
                    <a:pt x="1120961" y="42693"/>
                    <a:pt x="1120961" y="95359"/>
                  </a:cubicBezTo>
                  <a:lnTo>
                    <a:pt x="1120961" y="1999758"/>
                  </a:lnTo>
                  <a:cubicBezTo>
                    <a:pt x="1120961" y="2052423"/>
                    <a:pt x="1078267" y="2095116"/>
                    <a:pt x="1025602" y="2095116"/>
                  </a:cubicBezTo>
                  <a:lnTo>
                    <a:pt x="95359" y="2095116"/>
                  </a:lnTo>
                  <a:cubicBezTo>
                    <a:pt x="42693" y="2095116"/>
                    <a:pt x="0" y="2052423"/>
                    <a:pt x="0" y="1999758"/>
                  </a:cubicBezTo>
                  <a:lnTo>
                    <a:pt x="0" y="95359"/>
                  </a:lnTo>
                  <a:cubicBezTo>
                    <a:pt x="0" y="42693"/>
                    <a:pt x="42693" y="0"/>
                    <a:pt x="95359" y="0"/>
                  </a:cubicBezTo>
                  <a:close/>
                </a:path>
              </a:pathLst>
            </a:custGeom>
            <a:solidFill>
              <a:srgbClr val="FFFFFF"/>
            </a:solidFill>
          </p:spPr>
          <p:txBody>
            <a:bodyPr/>
            <a:lstStyle/>
            <a:p>
              <a:endParaRPr lang="en-GB"/>
            </a:p>
          </p:txBody>
        </p:sp>
        <p:sp>
          <p:nvSpPr>
            <p:cNvPr id="24" name="TextBox 24"/>
            <p:cNvSpPr txBox="1"/>
            <p:nvPr/>
          </p:nvSpPr>
          <p:spPr>
            <a:xfrm>
              <a:off x="0" y="9525"/>
              <a:ext cx="1120961" cy="2085591"/>
            </a:xfrm>
            <a:prstGeom prst="rect">
              <a:avLst/>
            </a:prstGeom>
          </p:spPr>
          <p:txBody>
            <a:bodyPr lIns="50800" tIns="50800" rIns="50800" bIns="50800" rtlCol="0" anchor="ctr"/>
            <a:lstStyle/>
            <a:p>
              <a:pPr algn="ctr">
                <a:lnSpc>
                  <a:spcPts val="2200"/>
                </a:lnSpc>
              </a:pPr>
              <a:endParaRPr/>
            </a:p>
          </p:txBody>
        </p:sp>
      </p:grpSp>
      <p:sp>
        <p:nvSpPr>
          <p:cNvPr id="25" name="TextBox 25"/>
          <p:cNvSpPr txBox="1"/>
          <p:nvPr/>
        </p:nvSpPr>
        <p:spPr>
          <a:xfrm>
            <a:off x="9364761" y="1983256"/>
            <a:ext cx="4160643" cy="615949"/>
          </a:xfrm>
          <a:prstGeom prst="rect">
            <a:avLst/>
          </a:prstGeom>
        </p:spPr>
        <p:txBody>
          <a:bodyPr lIns="0" tIns="0" rIns="0" bIns="0" rtlCol="0" anchor="t">
            <a:spAutoFit/>
          </a:bodyPr>
          <a:lstStyle/>
          <a:p>
            <a:pPr algn="ctr">
              <a:lnSpc>
                <a:spcPts val="3999"/>
              </a:lnSpc>
            </a:pPr>
            <a:r>
              <a:rPr lang="en-US" sz="3999">
                <a:solidFill>
                  <a:srgbClr val="290606"/>
                </a:solidFill>
                <a:latin typeface="Cheddar"/>
                <a:ea typeface="Cheddar"/>
                <a:cs typeface="Cheddar"/>
                <a:sym typeface="Cheddar"/>
              </a:rPr>
              <a:t>ROLE OF ML</a:t>
            </a:r>
          </a:p>
        </p:txBody>
      </p:sp>
      <p:sp>
        <p:nvSpPr>
          <p:cNvPr id="26" name="TextBox 26"/>
          <p:cNvSpPr txBox="1"/>
          <p:nvPr/>
        </p:nvSpPr>
        <p:spPr>
          <a:xfrm>
            <a:off x="9252608" y="2691264"/>
            <a:ext cx="4139447" cy="6420484"/>
          </a:xfrm>
          <a:prstGeom prst="rect">
            <a:avLst/>
          </a:prstGeom>
        </p:spPr>
        <p:txBody>
          <a:bodyPr lIns="0" tIns="0" rIns="0" bIns="0" rtlCol="0" anchor="t">
            <a:spAutoFit/>
          </a:bodyPr>
          <a:lstStyle/>
          <a:p>
            <a:pPr marL="561345" lvl="1" indent="-280673" algn="just">
              <a:lnSpc>
                <a:spcPts val="3640"/>
              </a:lnSpc>
              <a:buFont typeface="Arial"/>
              <a:buChar char="•"/>
            </a:pPr>
            <a:r>
              <a:rPr lang="en-US" sz="2600">
                <a:solidFill>
                  <a:srgbClr val="290606"/>
                </a:solidFill>
                <a:latin typeface="Telegraf 1"/>
                <a:ea typeface="Telegraf 1"/>
                <a:cs typeface="Telegraf 1"/>
                <a:sym typeface="Telegraf 1"/>
              </a:rPr>
              <a:t>Enables systems to forecast traffic flow before congestion actually forms.</a:t>
            </a:r>
          </a:p>
          <a:p>
            <a:pPr marL="561345" lvl="1" indent="-280673" algn="just">
              <a:lnSpc>
                <a:spcPts val="3640"/>
              </a:lnSpc>
              <a:buFont typeface="Arial"/>
              <a:buChar char="•"/>
            </a:pPr>
            <a:r>
              <a:rPr lang="en-US" sz="2600" b="1">
                <a:solidFill>
                  <a:srgbClr val="290606"/>
                </a:solidFill>
                <a:latin typeface="Telegraf 1 Bold"/>
                <a:ea typeface="Telegraf 1 Bold"/>
                <a:cs typeface="Telegraf 1 Bold"/>
                <a:sym typeface="Telegraf 1 Bold"/>
              </a:rPr>
              <a:t>Random Forest </a:t>
            </a:r>
            <a:r>
              <a:rPr lang="en-US" sz="2600">
                <a:solidFill>
                  <a:srgbClr val="290606"/>
                </a:solidFill>
                <a:latin typeface="Telegraf 1"/>
                <a:ea typeface="Telegraf 1"/>
                <a:cs typeface="Telegraf 1"/>
                <a:sym typeface="Telegraf 1"/>
              </a:rPr>
              <a:t>is chosen due to ensemble power, big data capability and robustness. </a:t>
            </a:r>
          </a:p>
          <a:p>
            <a:pPr marL="561345" lvl="1" indent="-280673" algn="just">
              <a:lnSpc>
                <a:spcPts val="3640"/>
              </a:lnSpc>
              <a:buFont typeface="Arial"/>
              <a:buChar char="•"/>
            </a:pPr>
            <a:r>
              <a:rPr lang="en-US" sz="2600">
                <a:solidFill>
                  <a:srgbClr val="290606"/>
                </a:solidFill>
                <a:latin typeface="Telegraf 1"/>
                <a:ea typeface="Telegraf 1"/>
                <a:cs typeface="Telegraf 1"/>
                <a:sym typeface="Telegraf 1"/>
              </a:rPr>
              <a:t>Goal: Optimize signal timings and support long-term urban infrastructure planning.</a:t>
            </a:r>
          </a:p>
        </p:txBody>
      </p:sp>
      <p:grpSp>
        <p:nvGrpSpPr>
          <p:cNvPr id="27" name="Group 27"/>
          <p:cNvGrpSpPr/>
          <p:nvPr/>
        </p:nvGrpSpPr>
        <p:grpSpPr>
          <a:xfrm>
            <a:off x="13923308" y="1701768"/>
            <a:ext cx="4251601" cy="7843605"/>
            <a:chOff x="0" y="0"/>
            <a:chExt cx="1151022" cy="2123474"/>
          </a:xfrm>
        </p:grpSpPr>
        <p:sp>
          <p:nvSpPr>
            <p:cNvPr id="28" name="Freeform 28"/>
            <p:cNvSpPr/>
            <p:nvPr/>
          </p:nvSpPr>
          <p:spPr>
            <a:xfrm>
              <a:off x="0" y="0"/>
              <a:ext cx="1151022" cy="2123474"/>
            </a:xfrm>
            <a:custGeom>
              <a:avLst/>
              <a:gdLst/>
              <a:ahLst/>
              <a:cxnLst/>
              <a:rect l="l" t="t" r="r" b="b"/>
              <a:pathLst>
                <a:path w="1151022" h="2123474">
                  <a:moveTo>
                    <a:pt x="92868" y="0"/>
                  </a:moveTo>
                  <a:lnTo>
                    <a:pt x="1058154" y="0"/>
                  </a:lnTo>
                  <a:cubicBezTo>
                    <a:pt x="1109444" y="0"/>
                    <a:pt x="1151022" y="41578"/>
                    <a:pt x="1151022" y="92868"/>
                  </a:cubicBezTo>
                  <a:lnTo>
                    <a:pt x="1151022" y="2030606"/>
                  </a:lnTo>
                  <a:cubicBezTo>
                    <a:pt x="1151022" y="2081895"/>
                    <a:pt x="1109444" y="2123474"/>
                    <a:pt x="1058154" y="2123474"/>
                  </a:cubicBezTo>
                  <a:lnTo>
                    <a:pt x="92868" y="2123474"/>
                  </a:lnTo>
                  <a:cubicBezTo>
                    <a:pt x="41578" y="2123474"/>
                    <a:pt x="0" y="2081895"/>
                    <a:pt x="0" y="2030606"/>
                  </a:cubicBezTo>
                  <a:lnTo>
                    <a:pt x="0" y="92868"/>
                  </a:lnTo>
                  <a:cubicBezTo>
                    <a:pt x="0" y="41578"/>
                    <a:pt x="41578" y="0"/>
                    <a:pt x="92868" y="0"/>
                  </a:cubicBezTo>
                  <a:close/>
                </a:path>
              </a:pathLst>
            </a:custGeom>
            <a:solidFill>
              <a:srgbClr val="02B676"/>
            </a:solidFill>
          </p:spPr>
          <p:txBody>
            <a:bodyPr/>
            <a:lstStyle/>
            <a:p>
              <a:endParaRPr lang="en-GB"/>
            </a:p>
          </p:txBody>
        </p:sp>
        <p:sp>
          <p:nvSpPr>
            <p:cNvPr id="29" name="TextBox 29"/>
            <p:cNvSpPr txBox="1"/>
            <p:nvPr/>
          </p:nvSpPr>
          <p:spPr>
            <a:xfrm>
              <a:off x="0" y="9525"/>
              <a:ext cx="1151022" cy="2113949"/>
            </a:xfrm>
            <a:prstGeom prst="rect">
              <a:avLst/>
            </a:prstGeom>
          </p:spPr>
          <p:txBody>
            <a:bodyPr lIns="50800" tIns="50800" rIns="50800" bIns="50800" rtlCol="0" anchor="ctr"/>
            <a:lstStyle/>
            <a:p>
              <a:pPr algn="ctr">
                <a:lnSpc>
                  <a:spcPts val="2200"/>
                </a:lnSpc>
              </a:pPr>
              <a:endParaRPr/>
            </a:p>
          </p:txBody>
        </p:sp>
      </p:grpSp>
      <p:grpSp>
        <p:nvGrpSpPr>
          <p:cNvPr id="30" name="Group 30"/>
          <p:cNvGrpSpPr/>
          <p:nvPr/>
        </p:nvGrpSpPr>
        <p:grpSpPr>
          <a:xfrm>
            <a:off x="14034348" y="1806514"/>
            <a:ext cx="4140562" cy="7738859"/>
            <a:chOff x="0" y="0"/>
            <a:chExt cx="1120961" cy="2095116"/>
          </a:xfrm>
        </p:grpSpPr>
        <p:sp>
          <p:nvSpPr>
            <p:cNvPr id="31" name="Freeform 31"/>
            <p:cNvSpPr/>
            <p:nvPr/>
          </p:nvSpPr>
          <p:spPr>
            <a:xfrm>
              <a:off x="0" y="0"/>
              <a:ext cx="1120961" cy="2095116"/>
            </a:xfrm>
            <a:custGeom>
              <a:avLst/>
              <a:gdLst/>
              <a:ahLst/>
              <a:cxnLst/>
              <a:rect l="l" t="t" r="r" b="b"/>
              <a:pathLst>
                <a:path w="1120961" h="2095116">
                  <a:moveTo>
                    <a:pt x="95359" y="0"/>
                  </a:moveTo>
                  <a:lnTo>
                    <a:pt x="1025602" y="0"/>
                  </a:lnTo>
                  <a:cubicBezTo>
                    <a:pt x="1078267" y="0"/>
                    <a:pt x="1120961" y="42693"/>
                    <a:pt x="1120961" y="95359"/>
                  </a:cubicBezTo>
                  <a:lnTo>
                    <a:pt x="1120961" y="1999758"/>
                  </a:lnTo>
                  <a:cubicBezTo>
                    <a:pt x="1120961" y="2052423"/>
                    <a:pt x="1078267" y="2095116"/>
                    <a:pt x="1025602" y="2095116"/>
                  </a:cubicBezTo>
                  <a:lnTo>
                    <a:pt x="95359" y="2095116"/>
                  </a:lnTo>
                  <a:cubicBezTo>
                    <a:pt x="42693" y="2095116"/>
                    <a:pt x="0" y="2052423"/>
                    <a:pt x="0" y="1999758"/>
                  </a:cubicBezTo>
                  <a:lnTo>
                    <a:pt x="0" y="95359"/>
                  </a:lnTo>
                  <a:cubicBezTo>
                    <a:pt x="0" y="42693"/>
                    <a:pt x="42693" y="0"/>
                    <a:pt x="95359" y="0"/>
                  </a:cubicBezTo>
                  <a:close/>
                </a:path>
              </a:pathLst>
            </a:custGeom>
            <a:solidFill>
              <a:srgbClr val="FFFFFF"/>
            </a:solidFill>
          </p:spPr>
          <p:txBody>
            <a:bodyPr/>
            <a:lstStyle/>
            <a:p>
              <a:endParaRPr lang="en-GB"/>
            </a:p>
          </p:txBody>
        </p:sp>
        <p:sp>
          <p:nvSpPr>
            <p:cNvPr id="32" name="TextBox 32"/>
            <p:cNvSpPr txBox="1"/>
            <p:nvPr/>
          </p:nvSpPr>
          <p:spPr>
            <a:xfrm>
              <a:off x="0" y="9525"/>
              <a:ext cx="1120961" cy="2085591"/>
            </a:xfrm>
            <a:prstGeom prst="rect">
              <a:avLst/>
            </a:prstGeom>
          </p:spPr>
          <p:txBody>
            <a:bodyPr lIns="50800" tIns="50800" rIns="50800" bIns="50800" rtlCol="0" anchor="ctr"/>
            <a:lstStyle/>
            <a:p>
              <a:pPr algn="ctr">
                <a:lnSpc>
                  <a:spcPts val="2200"/>
                </a:lnSpc>
              </a:pPr>
              <a:endParaRPr/>
            </a:p>
          </p:txBody>
        </p:sp>
      </p:grpSp>
      <p:sp>
        <p:nvSpPr>
          <p:cNvPr id="33" name="TextBox 33"/>
          <p:cNvSpPr txBox="1"/>
          <p:nvPr/>
        </p:nvSpPr>
        <p:spPr>
          <a:xfrm>
            <a:off x="13968787" y="1983256"/>
            <a:ext cx="4160643" cy="615949"/>
          </a:xfrm>
          <a:prstGeom prst="rect">
            <a:avLst/>
          </a:prstGeom>
        </p:spPr>
        <p:txBody>
          <a:bodyPr lIns="0" tIns="0" rIns="0" bIns="0" rtlCol="0" anchor="t">
            <a:spAutoFit/>
          </a:bodyPr>
          <a:lstStyle/>
          <a:p>
            <a:pPr algn="ctr">
              <a:lnSpc>
                <a:spcPts val="3999"/>
              </a:lnSpc>
            </a:pPr>
            <a:r>
              <a:rPr lang="en-US" sz="3999">
                <a:solidFill>
                  <a:srgbClr val="290606"/>
                </a:solidFill>
                <a:latin typeface="Cheddar"/>
                <a:ea typeface="Cheddar"/>
                <a:cs typeface="Cheddar"/>
                <a:sym typeface="Cheddar"/>
              </a:rPr>
              <a:t>CASE STUDY &amp; DATASET</a:t>
            </a:r>
          </a:p>
        </p:txBody>
      </p:sp>
      <p:sp>
        <p:nvSpPr>
          <p:cNvPr id="34" name="TextBox 34"/>
          <p:cNvSpPr txBox="1"/>
          <p:nvPr/>
        </p:nvSpPr>
        <p:spPr>
          <a:xfrm>
            <a:off x="13742333" y="2710314"/>
            <a:ext cx="4478992" cy="6206489"/>
          </a:xfrm>
          <a:prstGeom prst="rect">
            <a:avLst/>
          </a:prstGeom>
        </p:spPr>
        <p:txBody>
          <a:bodyPr lIns="0" tIns="0" rIns="0" bIns="0" rtlCol="0" anchor="t">
            <a:spAutoFit/>
          </a:bodyPr>
          <a:lstStyle/>
          <a:p>
            <a:pPr marL="474988" lvl="1" indent="-237494" algn="l">
              <a:lnSpc>
                <a:spcPts val="3080"/>
              </a:lnSpc>
              <a:buFont typeface="Arial"/>
              <a:buChar char="•"/>
            </a:pPr>
            <a:r>
              <a:rPr lang="en-US" sz="2200">
                <a:solidFill>
                  <a:srgbClr val="290606"/>
                </a:solidFill>
                <a:latin typeface="Telegraf 1"/>
                <a:ea typeface="Telegraf 1"/>
                <a:cs typeface="Telegraf 1"/>
                <a:sym typeface="Telegraf 1"/>
              </a:rPr>
              <a:t>Dataset: "Metro Interstate Traffic Volume" (UCI Machine Learning Repository).</a:t>
            </a:r>
          </a:p>
          <a:p>
            <a:pPr marL="561345" lvl="1" indent="-280673" algn="l">
              <a:lnSpc>
                <a:spcPts val="3640"/>
              </a:lnSpc>
              <a:buFont typeface="Arial"/>
              <a:buChar char="•"/>
            </a:pPr>
            <a:r>
              <a:rPr lang="en-US" sz="2600" b="1">
                <a:solidFill>
                  <a:srgbClr val="290606"/>
                </a:solidFill>
                <a:latin typeface="Telegraf 1 Bold"/>
                <a:ea typeface="Telegraf 1 Bold"/>
                <a:cs typeface="Telegraf 1 Bold"/>
                <a:sym typeface="Telegraf 1 Bold"/>
              </a:rPr>
              <a:t>Temporal</a:t>
            </a:r>
            <a:r>
              <a:rPr lang="en-US" sz="2600">
                <a:solidFill>
                  <a:srgbClr val="290606"/>
                </a:solidFill>
                <a:latin typeface="Telegraf 1"/>
                <a:ea typeface="Telegraf 1"/>
                <a:cs typeface="Telegraf 1"/>
                <a:sym typeface="Telegraf 1"/>
              </a:rPr>
              <a:t>: date_time,</a:t>
            </a:r>
          </a:p>
          <a:p>
            <a:pPr marL="561345" lvl="1" indent="-280673" algn="l">
              <a:lnSpc>
                <a:spcPts val="3640"/>
              </a:lnSpc>
              <a:buFont typeface="Arial"/>
              <a:buChar char="•"/>
            </a:pPr>
            <a:r>
              <a:rPr lang="en-US" sz="2600" b="1">
                <a:solidFill>
                  <a:srgbClr val="290606"/>
                </a:solidFill>
                <a:latin typeface="Telegraf 1 Bold"/>
                <a:ea typeface="Telegraf 1 Bold"/>
                <a:cs typeface="Telegraf 1 Bold"/>
                <a:sym typeface="Telegraf 1 Bold"/>
              </a:rPr>
              <a:t>Environmental</a:t>
            </a:r>
            <a:r>
              <a:rPr lang="en-US" sz="2600">
                <a:solidFill>
                  <a:srgbClr val="290606"/>
                </a:solidFill>
                <a:latin typeface="Telegraf 1"/>
                <a:ea typeface="Telegraf 1"/>
                <a:cs typeface="Telegraf 1"/>
                <a:sym typeface="Telegraf 1"/>
              </a:rPr>
              <a:t>: Temperature, hourly rainfall &amp; cloud coverage.</a:t>
            </a:r>
          </a:p>
          <a:p>
            <a:pPr marL="561345" lvl="1" indent="-280673" algn="l">
              <a:lnSpc>
                <a:spcPts val="3640"/>
              </a:lnSpc>
              <a:buFont typeface="Arial"/>
              <a:buChar char="•"/>
            </a:pPr>
            <a:r>
              <a:rPr lang="en-US" sz="2600" b="1">
                <a:solidFill>
                  <a:srgbClr val="290606"/>
                </a:solidFill>
                <a:latin typeface="Telegraf 1 Bold"/>
                <a:ea typeface="Telegraf 1 Bold"/>
                <a:cs typeface="Telegraf 1 Bold"/>
                <a:sym typeface="Telegraf 1 Bold"/>
              </a:rPr>
              <a:t>Target Variable</a:t>
            </a:r>
            <a:r>
              <a:rPr lang="en-US" sz="2600">
                <a:solidFill>
                  <a:srgbClr val="290606"/>
                </a:solidFill>
                <a:latin typeface="Telegraf 1"/>
                <a:ea typeface="Telegraf 1"/>
                <a:cs typeface="Telegraf 1"/>
                <a:sym typeface="Telegraf 1"/>
              </a:rPr>
              <a:t>: Total hourly traffic volume.</a:t>
            </a:r>
          </a:p>
          <a:p>
            <a:pPr marL="561345" lvl="1" indent="-280673" algn="l">
              <a:lnSpc>
                <a:spcPts val="3640"/>
              </a:lnSpc>
              <a:buFont typeface="Arial"/>
              <a:buChar char="•"/>
            </a:pPr>
            <a:r>
              <a:rPr lang="en-US" sz="2600" b="1">
                <a:solidFill>
                  <a:srgbClr val="290606"/>
                </a:solidFill>
                <a:latin typeface="Telegraf 1 Bold"/>
                <a:ea typeface="Telegraf 1 Bold"/>
                <a:cs typeface="Telegraf 1 Bold"/>
                <a:sym typeface="Telegraf 1 Bold"/>
              </a:rPr>
              <a:t>Innovation</a:t>
            </a:r>
            <a:r>
              <a:rPr lang="en-US" sz="2600">
                <a:solidFill>
                  <a:srgbClr val="290606"/>
                </a:solidFill>
                <a:latin typeface="Telegraf 1"/>
                <a:ea typeface="Telegraf 1"/>
                <a:cs typeface="Telegraf 1"/>
                <a:sym typeface="Telegraf 1"/>
              </a:rPr>
              <a:t>: Combines diverse &amp; heterogeneous atmospheric data with human activity patterns into a single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572946"/>
            <a:ext cx="7294445" cy="803783"/>
            <a:chOff x="0" y="0"/>
            <a:chExt cx="1921171" cy="211696"/>
          </a:xfrm>
        </p:grpSpPr>
        <p:sp>
          <p:nvSpPr>
            <p:cNvPr id="3" name="Freeform 3"/>
            <p:cNvSpPr/>
            <p:nvPr/>
          </p:nvSpPr>
          <p:spPr>
            <a:xfrm>
              <a:off x="0" y="0"/>
              <a:ext cx="1921171" cy="211696"/>
            </a:xfrm>
            <a:custGeom>
              <a:avLst/>
              <a:gdLst/>
              <a:ahLst/>
              <a:cxnLst/>
              <a:rect l="l" t="t" r="r" b="b"/>
              <a:pathLst>
                <a:path w="1921171" h="211696">
                  <a:moveTo>
                    <a:pt x="54129" y="0"/>
                  </a:moveTo>
                  <a:lnTo>
                    <a:pt x="1867042" y="0"/>
                  </a:lnTo>
                  <a:cubicBezTo>
                    <a:pt x="1896937" y="0"/>
                    <a:pt x="1921171" y="24234"/>
                    <a:pt x="1921171" y="54129"/>
                  </a:cubicBezTo>
                  <a:lnTo>
                    <a:pt x="1921171" y="157567"/>
                  </a:lnTo>
                  <a:cubicBezTo>
                    <a:pt x="1921171" y="171923"/>
                    <a:pt x="1915468" y="185691"/>
                    <a:pt x="1905317" y="195842"/>
                  </a:cubicBezTo>
                  <a:cubicBezTo>
                    <a:pt x="1895166" y="205993"/>
                    <a:pt x="1881398" y="211696"/>
                    <a:pt x="1867042" y="211696"/>
                  </a:cubicBezTo>
                  <a:lnTo>
                    <a:pt x="54129" y="211696"/>
                  </a:lnTo>
                  <a:cubicBezTo>
                    <a:pt x="24234" y="211696"/>
                    <a:pt x="0" y="187462"/>
                    <a:pt x="0" y="157567"/>
                  </a:cubicBezTo>
                  <a:lnTo>
                    <a:pt x="0" y="54129"/>
                  </a:lnTo>
                  <a:cubicBezTo>
                    <a:pt x="0" y="24234"/>
                    <a:pt x="24234" y="0"/>
                    <a:pt x="54129" y="0"/>
                  </a:cubicBezTo>
                  <a:close/>
                </a:path>
              </a:pathLst>
            </a:custGeom>
            <a:solidFill>
              <a:srgbClr val="02B676"/>
            </a:solidFill>
          </p:spPr>
          <p:txBody>
            <a:bodyPr/>
            <a:lstStyle/>
            <a:p>
              <a:endParaRPr lang="en-GB"/>
            </a:p>
          </p:txBody>
        </p:sp>
        <p:sp>
          <p:nvSpPr>
            <p:cNvPr id="4" name="TextBox 4"/>
            <p:cNvSpPr txBox="1"/>
            <p:nvPr/>
          </p:nvSpPr>
          <p:spPr>
            <a:xfrm>
              <a:off x="0" y="-104775"/>
              <a:ext cx="1921171" cy="316471"/>
            </a:xfrm>
            <a:prstGeom prst="rect">
              <a:avLst/>
            </a:prstGeom>
          </p:spPr>
          <p:txBody>
            <a:bodyPr lIns="50800" tIns="50800" rIns="50800" bIns="50800" rtlCol="0" anchor="ctr"/>
            <a:lstStyle/>
            <a:p>
              <a:pPr algn="ctr">
                <a:lnSpc>
                  <a:spcPts val="4200"/>
                </a:lnSpc>
              </a:pPr>
              <a:r>
                <a:rPr lang="en-US" sz="3000" b="1">
                  <a:solidFill>
                    <a:srgbClr val="FFFFFF"/>
                  </a:solidFill>
                  <a:latin typeface="Telegraf 1 Bold"/>
                  <a:ea typeface="Telegraf 1 Bold"/>
                  <a:cs typeface="Telegraf 1 Bold"/>
                  <a:sym typeface="Telegraf 1 Bold"/>
                </a:rPr>
                <a:t>Statistical Summary</a:t>
              </a:r>
            </a:p>
          </p:txBody>
        </p:sp>
      </p:grpSp>
      <p:grpSp>
        <p:nvGrpSpPr>
          <p:cNvPr id="5" name="Group 5"/>
          <p:cNvGrpSpPr/>
          <p:nvPr/>
        </p:nvGrpSpPr>
        <p:grpSpPr>
          <a:xfrm>
            <a:off x="9964855" y="1572946"/>
            <a:ext cx="7294445" cy="803783"/>
            <a:chOff x="0" y="0"/>
            <a:chExt cx="1921171" cy="211696"/>
          </a:xfrm>
        </p:grpSpPr>
        <p:sp>
          <p:nvSpPr>
            <p:cNvPr id="6" name="Freeform 6"/>
            <p:cNvSpPr/>
            <p:nvPr/>
          </p:nvSpPr>
          <p:spPr>
            <a:xfrm>
              <a:off x="0" y="0"/>
              <a:ext cx="1921171" cy="211696"/>
            </a:xfrm>
            <a:custGeom>
              <a:avLst/>
              <a:gdLst/>
              <a:ahLst/>
              <a:cxnLst/>
              <a:rect l="l" t="t" r="r" b="b"/>
              <a:pathLst>
                <a:path w="1921171" h="211696">
                  <a:moveTo>
                    <a:pt x="54129" y="0"/>
                  </a:moveTo>
                  <a:lnTo>
                    <a:pt x="1867042" y="0"/>
                  </a:lnTo>
                  <a:cubicBezTo>
                    <a:pt x="1896937" y="0"/>
                    <a:pt x="1921171" y="24234"/>
                    <a:pt x="1921171" y="54129"/>
                  </a:cubicBezTo>
                  <a:lnTo>
                    <a:pt x="1921171" y="157567"/>
                  </a:lnTo>
                  <a:cubicBezTo>
                    <a:pt x="1921171" y="171923"/>
                    <a:pt x="1915468" y="185691"/>
                    <a:pt x="1905317" y="195842"/>
                  </a:cubicBezTo>
                  <a:cubicBezTo>
                    <a:pt x="1895166" y="205993"/>
                    <a:pt x="1881398" y="211696"/>
                    <a:pt x="1867042" y="211696"/>
                  </a:cubicBezTo>
                  <a:lnTo>
                    <a:pt x="54129" y="211696"/>
                  </a:lnTo>
                  <a:cubicBezTo>
                    <a:pt x="24234" y="211696"/>
                    <a:pt x="0" y="187462"/>
                    <a:pt x="0" y="157567"/>
                  </a:cubicBezTo>
                  <a:lnTo>
                    <a:pt x="0" y="54129"/>
                  </a:lnTo>
                  <a:cubicBezTo>
                    <a:pt x="0" y="24234"/>
                    <a:pt x="24234" y="0"/>
                    <a:pt x="54129" y="0"/>
                  </a:cubicBezTo>
                  <a:close/>
                </a:path>
              </a:pathLst>
            </a:custGeom>
            <a:solidFill>
              <a:srgbClr val="02B676"/>
            </a:solidFill>
          </p:spPr>
          <p:txBody>
            <a:bodyPr/>
            <a:lstStyle/>
            <a:p>
              <a:endParaRPr lang="en-GB"/>
            </a:p>
          </p:txBody>
        </p:sp>
        <p:sp>
          <p:nvSpPr>
            <p:cNvPr id="7" name="TextBox 7"/>
            <p:cNvSpPr txBox="1"/>
            <p:nvPr/>
          </p:nvSpPr>
          <p:spPr>
            <a:xfrm>
              <a:off x="0" y="-104775"/>
              <a:ext cx="1921171" cy="316471"/>
            </a:xfrm>
            <a:prstGeom prst="rect">
              <a:avLst/>
            </a:prstGeom>
          </p:spPr>
          <p:txBody>
            <a:bodyPr lIns="50800" tIns="50800" rIns="50800" bIns="50800" rtlCol="0" anchor="ctr"/>
            <a:lstStyle/>
            <a:p>
              <a:pPr algn="ctr">
                <a:lnSpc>
                  <a:spcPts val="4200"/>
                </a:lnSpc>
              </a:pPr>
              <a:r>
                <a:rPr lang="en-US" sz="3000" b="1">
                  <a:solidFill>
                    <a:srgbClr val="FFFFFF"/>
                  </a:solidFill>
                  <a:latin typeface="Telegraf 1 Bold"/>
                  <a:ea typeface="Telegraf 1 Bold"/>
                  <a:cs typeface="Telegraf 1 Bold"/>
                  <a:sym typeface="Telegraf 1 Bold"/>
                </a:rPr>
                <a:t>Correlation Heatmap</a:t>
              </a:r>
            </a:p>
          </p:txBody>
        </p:sp>
      </p:grpSp>
      <p:grpSp>
        <p:nvGrpSpPr>
          <p:cNvPr id="8" name="Group 8"/>
          <p:cNvGrpSpPr/>
          <p:nvPr/>
        </p:nvGrpSpPr>
        <p:grpSpPr>
          <a:xfrm>
            <a:off x="1028700" y="5673893"/>
            <a:ext cx="7294445" cy="803783"/>
            <a:chOff x="0" y="0"/>
            <a:chExt cx="1921171" cy="211696"/>
          </a:xfrm>
        </p:grpSpPr>
        <p:sp>
          <p:nvSpPr>
            <p:cNvPr id="9" name="Freeform 9"/>
            <p:cNvSpPr/>
            <p:nvPr/>
          </p:nvSpPr>
          <p:spPr>
            <a:xfrm>
              <a:off x="0" y="0"/>
              <a:ext cx="1921171" cy="211696"/>
            </a:xfrm>
            <a:custGeom>
              <a:avLst/>
              <a:gdLst/>
              <a:ahLst/>
              <a:cxnLst/>
              <a:rect l="l" t="t" r="r" b="b"/>
              <a:pathLst>
                <a:path w="1921171" h="211696">
                  <a:moveTo>
                    <a:pt x="54129" y="0"/>
                  </a:moveTo>
                  <a:lnTo>
                    <a:pt x="1867042" y="0"/>
                  </a:lnTo>
                  <a:cubicBezTo>
                    <a:pt x="1896937" y="0"/>
                    <a:pt x="1921171" y="24234"/>
                    <a:pt x="1921171" y="54129"/>
                  </a:cubicBezTo>
                  <a:lnTo>
                    <a:pt x="1921171" y="157567"/>
                  </a:lnTo>
                  <a:cubicBezTo>
                    <a:pt x="1921171" y="171923"/>
                    <a:pt x="1915468" y="185691"/>
                    <a:pt x="1905317" y="195842"/>
                  </a:cubicBezTo>
                  <a:cubicBezTo>
                    <a:pt x="1895166" y="205993"/>
                    <a:pt x="1881398" y="211696"/>
                    <a:pt x="1867042" y="211696"/>
                  </a:cubicBezTo>
                  <a:lnTo>
                    <a:pt x="54129" y="211696"/>
                  </a:lnTo>
                  <a:cubicBezTo>
                    <a:pt x="24234" y="211696"/>
                    <a:pt x="0" y="187462"/>
                    <a:pt x="0" y="157567"/>
                  </a:cubicBezTo>
                  <a:lnTo>
                    <a:pt x="0" y="54129"/>
                  </a:lnTo>
                  <a:cubicBezTo>
                    <a:pt x="0" y="24234"/>
                    <a:pt x="24234" y="0"/>
                    <a:pt x="54129" y="0"/>
                  </a:cubicBezTo>
                  <a:close/>
                </a:path>
              </a:pathLst>
            </a:custGeom>
            <a:solidFill>
              <a:srgbClr val="02B676"/>
            </a:solidFill>
          </p:spPr>
          <p:txBody>
            <a:bodyPr/>
            <a:lstStyle/>
            <a:p>
              <a:endParaRPr lang="en-GB"/>
            </a:p>
          </p:txBody>
        </p:sp>
        <p:sp>
          <p:nvSpPr>
            <p:cNvPr id="10" name="TextBox 10"/>
            <p:cNvSpPr txBox="1"/>
            <p:nvPr/>
          </p:nvSpPr>
          <p:spPr>
            <a:xfrm>
              <a:off x="0" y="-104775"/>
              <a:ext cx="1921171" cy="316471"/>
            </a:xfrm>
            <a:prstGeom prst="rect">
              <a:avLst/>
            </a:prstGeom>
          </p:spPr>
          <p:txBody>
            <a:bodyPr lIns="50800" tIns="50800" rIns="50800" bIns="50800" rtlCol="0" anchor="ctr"/>
            <a:lstStyle/>
            <a:p>
              <a:pPr algn="ctr">
                <a:lnSpc>
                  <a:spcPts val="4200"/>
                </a:lnSpc>
              </a:pPr>
              <a:r>
                <a:rPr lang="en-US" sz="3000" b="1">
                  <a:solidFill>
                    <a:srgbClr val="FFFFFF"/>
                  </a:solidFill>
                  <a:latin typeface="Telegraf 1 Bold"/>
                  <a:ea typeface="Telegraf 1 Bold"/>
                  <a:cs typeface="Telegraf 1 Bold"/>
                  <a:sym typeface="Telegraf 1 Bold"/>
                </a:rPr>
                <a:t>Distribution Plot</a:t>
              </a:r>
            </a:p>
          </p:txBody>
        </p:sp>
      </p:grpSp>
      <p:sp>
        <p:nvSpPr>
          <p:cNvPr id="11" name="Freeform 11"/>
          <p:cNvSpPr/>
          <p:nvPr/>
        </p:nvSpPr>
        <p:spPr>
          <a:xfrm>
            <a:off x="1263102" y="2593447"/>
            <a:ext cx="6825642" cy="2878396"/>
          </a:xfrm>
          <a:custGeom>
            <a:avLst/>
            <a:gdLst/>
            <a:ahLst/>
            <a:cxnLst/>
            <a:rect l="l" t="t" r="r" b="b"/>
            <a:pathLst>
              <a:path w="6825642" h="2878396">
                <a:moveTo>
                  <a:pt x="0" y="0"/>
                </a:moveTo>
                <a:lnTo>
                  <a:pt x="6825641" y="0"/>
                </a:lnTo>
                <a:lnTo>
                  <a:pt x="6825641" y="2878395"/>
                </a:lnTo>
                <a:lnTo>
                  <a:pt x="0" y="2878395"/>
                </a:lnTo>
                <a:lnTo>
                  <a:pt x="0" y="0"/>
                </a:lnTo>
                <a:close/>
              </a:path>
            </a:pathLst>
          </a:custGeom>
          <a:blipFill>
            <a:blip r:embed="rId2"/>
            <a:stretch>
              <a:fillRect/>
            </a:stretch>
          </a:blipFill>
        </p:spPr>
        <p:txBody>
          <a:bodyPr/>
          <a:lstStyle/>
          <a:p>
            <a:endParaRPr lang="en-GB"/>
          </a:p>
        </p:txBody>
      </p:sp>
      <p:sp>
        <p:nvSpPr>
          <p:cNvPr id="12" name="Freeform 12"/>
          <p:cNvSpPr/>
          <p:nvPr/>
        </p:nvSpPr>
        <p:spPr>
          <a:xfrm>
            <a:off x="2077019" y="6696751"/>
            <a:ext cx="5197807" cy="3325122"/>
          </a:xfrm>
          <a:custGeom>
            <a:avLst/>
            <a:gdLst/>
            <a:ahLst/>
            <a:cxnLst/>
            <a:rect l="l" t="t" r="r" b="b"/>
            <a:pathLst>
              <a:path w="5197807" h="3325122">
                <a:moveTo>
                  <a:pt x="0" y="0"/>
                </a:moveTo>
                <a:lnTo>
                  <a:pt x="5197807" y="0"/>
                </a:lnTo>
                <a:lnTo>
                  <a:pt x="5197807" y="3325122"/>
                </a:lnTo>
                <a:lnTo>
                  <a:pt x="0" y="3325122"/>
                </a:lnTo>
                <a:lnTo>
                  <a:pt x="0" y="0"/>
                </a:lnTo>
                <a:close/>
              </a:path>
            </a:pathLst>
          </a:custGeom>
          <a:blipFill>
            <a:blip r:embed="rId3"/>
            <a:stretch>
              <a:fillRect/>
            </a:stretch>
          </a:blipFill>
        </p:spPr>
        <p:txBody>
          <a:bodyPr/>
          <a:lstStyle/>
          <a:p>
            <a:endParaRPr lang="en-GB"/>
          </a:p>
        </p:txBody>
      </p:sp>
      <p:sp>
        <p:nvSpPr>
          <p:cNvPr id="13" name="Freeform 13"/>
          <p:cNvSpPr/>
          <p:nvPr/>
        </p:nvSpPr>
        <p:spPr>
          <a:xfrm>
            <a:off x="11262471" y="2593447"/>
            <a:ext cx="4699212" cy="3948795"/>
          </a:xfrm>
          <a:custGeom>
            <a:avLst/>
            <a:gdLst/>
            <a:ahLst/>
            <a:cxnLst/>
            <a:rect l="l" t="t" r="r" b="b"/>
            <a:pathLst>
              <a:path w="4699212" h="3948795">
                <a:moveTo>
                  <a:pt x="0" y="0"/>
                </a:moveTo>
                <a:lnTo>
                  <a:pt x="4699213" y="0"/>
                </a:lnTo>
                <a:lnTo>
                  <a:pt x="4699213" y="3948795"/>
                </a:lnTo>
                <a:lnTo>
                  <a:pt x="0" y="3948795"/>
                </a:lnTo>
                <a:lnTo>
                  <a:pt x="0" y="0"/>
                </a:lnTo>
                <a:close/>
              </a:path>
            </a:pathLst>
          </a:custGeom>
          <a:blipFill>
            <a:blip r:embed="rId4"/>
            <a:stretch>
              <a:fillRect/>
            </a:stretch>
          </a:blipFill>
        </p:spPr>
        <p:txBody>
          <a:bodyPr/>
          <a:lstStyle/>
          <a:p>
            <a:endParaRPr lang="en-GB"/>
          </a:p>
        </p:txBody>
      </p:sp>
      <p:sp>
        <p:nvSpPr>
          <p:cNvPr id="14" name="TextBox 14"/>
          <p:cNvSpPr txBox="1"/>
          <p:nvPr/>
        </p:nvSpPr>
        <p:spPr>
          <a:xfrm>
            <a:off x="1757527" y="499824"/>
            <a:ext cx="14772946" cy="1073123"/>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EXPLORATORY DATA ANALYSIS (EDA)</a:t>
            </a:r>
          </a:p>
        </p:txBody>
      </p:sp>
      <p:grpSp>
        <p:nvGrpSpPr>
          <p:cNvPr id="15" name="Group 15"/>
          <p:cNvGrpSpPr/>
          <p:nvPr/>
        </p:nvGrpSpPr>
        <p:grpSpPr>
          <a:xfrm>
            <a:off x="9964855" y="7166201"/>
            <a:ext cx="7294445" cy="2593758"/>
            <a:chOff x="0" y="0"/>
            <a:chExt cx="3181107" cy="1131138"/>
          </a:xfrm>
        </p:grpSpPr>
        <p:sp>
          <p:nvSpPr>
            <p:cNvPr id="16" name="Freeform 16"/>
            <p:cNvSpPr/>
            <p:nvPr/>
          </p:nvSpPr>
          <p:spPr>
            <a:xfrm>
              <a:off x="0" y="0"/>
              <a:ext cx="3181107" cy="1131138"/>
            </a:xfrm>
            <a:custGeom>
              <a:avLst/>
              <a:gdLst/>
              <a:ahLst/>
              <a:cxnLst/>
              <a:rect l="l" t="t" r="r" b="b"/>
              <a:pathLst>
                <a:path w="3181107" h="1131138">
                  <a:moveTo>
                    <a:pt x="10613" y="0"/>
                  </a:moveTo>
                  <a:lnTo>
                    <a:pt x="3170493" y="0"/>
                  </a:lnTo>
                  <a:cubicBezTo>
                    <a:pt x="3173308" y="0"/>
                    <a:pt x="3176008" y="1118"/>
                    <a:pt x="3177998" y="3109"/>
                  </a:cubicBezTo>
                  <a:cubicBezTo>
                    <a:pt x="3179989" y="5099"/>
                    <a:pt x="3181107" y="7799"/>
                    <a:pt x="3181107" y="10613"/>
                  </a:cubicBezTo>
                  <a:lnTo>
                    <a:pt x="3181107" y="1120524"/>
                  </a:lnTo>
                  <a:cubicBezTo>
                    <a:pt x="3181107" y="1123339"/>
                    <a:pt x="3179989" y="1126039"/>
                    <a:pt x="3177998" y="1128029"/>
                  </a:cubicBezTo>
                  <a:cubicBezTo>
                    <a:pt x="3176008" y="1130019"/>
                    <a:pt x="3173308" y="1131138"/>
                    <a:pt x="3170493" y="1131138"/>
                  </a:cubicBezTo>
                  <a:lnTo>
                    <a:pt x="10613" y="1131138"/>
                  </a:lnTo>
                  <a:cubicBezTo>
                    <a:pt x="7799" y="1131138"/>
                    <a:pt x="5099" y="1130019"/>
                    <a:pt x="3109" y="1128029"/>
                  </a:cubicBezTo>
                  <a:cubicBezTo>
                    <a:pt x="1118" y="1126039"/>
                    <a:pt x="0" y="1123339"/>
                    <a:pt x="0" y="1120524"/>
                  </a:cubicBezTo>
                  <a:lnTo>
                    <a:pt x="0" y="10613"/>
                  </a:lnTo>
                  <a:cubicBezTo>
                    <a:pt x="0" y="7799"/>
                    <a:pt x="1118" y="5099"/>
                    <a:pt x="3109" y="3109"/>
                  </a:cubicBezTo>
                  <a:cubicBezTo>
                    <a:pt x="5099" y="1118"/>
                    <a:pt x="7799" y="0"/>
                    <a:pt x="10613" y="0"/>
                  </a:cubicBezTo>
                  <a:close/>
                </a:path>
              </a:pathLst>
            </a:custGeom>
            <a:solidFill>
              <a:srgbClr val="02B676">
                <a:alpha val="69804"/>
              </a:srgbClr>
            </a:solidFill>
          </p:spPr>
          <p:txBody>
            <a:bodyPr/>
            <a:lstStyle/>
            <a:p>
              <a:endParaRPr lang="en-GB"/>
            </a:p>
          </p:txBody>
        </p:sp>
        <p:sp>
          <p:nvSpPr>
            <p:cNvPr id="17" name="TextBox 17"/>
            <p:cNvSpPr txBox="1"/>
            <p:nvPr/>
          </p:nvSpPr>
          <p:spPr>
            <a:xfrm>
              <a:off x="0" y="-38100"/>
              <a:ext cx="3181107" cy="1169238"/>
            </a:xfrm>
            <a:prstGeom prst="rect">
              <a:avLst/>
            </a:prstGeom>
          </p:spPr>
          <p:txBody>
            <a:bodyPr lIns="80497" tIns="80497" rIns="80497" bIns="80497" rtlCol="0" anchor="ctr"/>
            <a:lstStyle/>
            <a:p>
              <a:pPr algn="ctr">
                <a:lnSpc>
                  <a:spcPts val="3599"/>
                </a:lnSpc>
              </a:pPr>
              <a:endParaRPr/>
            </a:p>
          </p:txBody>
        </p:sp>
      </p:grpSp>
      <p:grpSp>
        <p:nvGrpSpPr>
          <p:cNvPr id="18" name="Group 18"/>
          <p:cNvGrpSpPr/>
          <p:nvPr/>
        </p:nvGrpSpPr>
        <p:grpSpPr>
          <a:xfrm>
            <a:off x="9495405" y="6696751"/>
            <a:ext cx="938900" cy="938900"/>
            <a:chOff x="0" y="0"/>
            <a:chExt cx="1251867" cy="1251867"/>
          </a:xfrm>
        </p:grpSpPr>
        <p:grpSp>
          <p:nvGrpSpPr>
            <p:cNvPr id="19" name="Group 19"/>
            <p:cNvGrpSpPr/>
            <p:nvPr/>
          </p:nvGrpSpPr>
          <p:grpSpPr>
            <a:xfrm>
              <a:off x="0" y="0"/>
              <a:ext cx="1251867" cy="125186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BE6"/>
              </a:solidFill>
              <a:ln w="38100" cap="sq">
                <a:solidFill>
                  <a:srgbClr val="292828"/>
                </a:solidFill>
                <a:prstDash val="solid"/>
                <a:miter/>
              </a:ln>
            </p:spPr>
            <p:txBody>
              <a:bodyPr/>
              <a:lstStyle/>
              <a:p>
                <a:endParaRPr lang="en-GB"/>
              </a:p>
            </p:txBody>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5399"/>
                  </a:lnSpc>
                </a:pPr>
                <a:endParaRPr/>
              </a:p>
            </p:txBody>
          </p:sp>
        </p:grpSp>
      </p:grpSp>
      <p:sp>
        <p:nvSpPr>
          <p:cNvPr id="22" name="TextBox 22"/>
          <p:cNvSpPr txBox="1"/>
          <p:nvPr/>
        </p:nvSpPr>
        <p:spPr>
          <a:xfrm>
            <a:off x="10288662" y="7418140"/>
            <a:ext cx="6646830" cy="2108929"/>
          </a:xfrm>
          <a:prstGeom prst="rect">
            <a:avLst/>
          </a:prstGeom>
        </p:spPr>
        <p:txBody>
          <a:bodyPr lIns="0" tIns="0" rIns="0" bIns="0" rtlCol="0" anchor="t">
            <a:spAutoFit/>
          </a:bodyPr>
          <a:lstStyle/>
          <a:p>
            <a:pPr marL="518158" lvl="1" indent="-259079" algn="just">
              <a:lnSpc>
                <a:spcPts val="2399"/>
              </a:lnSpc>
              <a:buFont typeface="Arial"/>
              <a:buChar char="•"/>
            </a:pPr>
            <a:r>
              <a:rPr lang="en-US" sz="2399" b="1" spc="117">
                <a:solidFill>
                  <a:srgbClr val="FFFFFF"/>
                </a:solidFill>
                <a:latin typeface="Telegraf 1 Bold"/>
                <a:ea typeface="Telegraf 1 Bold"/>
                <a:cs typeface="Telegraf 1 Bold"/>
                <a:sym typeface="Telegraf 1 Bold"/>
              </a:rPr>
              <a:t>Robust Dataset: </a:t>
            </a:r>
            <a:r>
              <a:rPr lang="en-US" sz="2399" spc="117">
                <a:solidFill>
                  <a:srgbClr val="FFFFFF"/>
                </a:solidFill>
                <a:latin typeface="Telegraf 1"/>
                <a:ea typeface="Telegraf 1"/>
                <a:cs typeface="Telegraf 1"/>
                <a:sym typeface="Telegraf 1"/>
              </a:rPr>
              <a:t>48,204 data rows with an average volume of ~3,260 cars per hour.</a:t>
            </a:r>
          </a:p>
          <a:p>
            <a:pPr marL="518158" lvl="1" indent="-259079" algn="just">
              <a:lnSpc>
                <a:spcPts val="2399"/>
              </a:lnSpc>
              <a:buFont typeface="Arial"/>
              <a:buChar char="•"/>
            </a:pPr>
            <a:r>
              <a:rPr lang="en-US" sz="2399" b="1" spc="117">
                <a:solidFill>
                  <a:srgbClr val="FFFFFF"/>
                </a:solidFill>
                <a:latin typeface="Telegraf 1 Bold"/>
                <a:ea typeface="Telegraf 1 Bold"/>
                <a:cs typeface="Telegraf 1 Bold"/>
                <a:sym typeface="Telegraf 1 Bold"/>
              </a:rPr>
              <a:t>Distinct Traffic Peaks: </a:t>
            </a:r>
            <a:r>
              <a:rPr lang="en-US" sz="2399" spc="117">
                <a:solidFill>
                  <a:srgbClr val="FFFFFF"/>
                </a:solidFill>
                <a:latin typeface="Telegraf 1"/>
                <a:ea typeface="Telegraf 1"/>
                <a:cs typeface="Telegraf 1"/>
                <a:sym typeface="Telegraf 1"/>
              </a:rPr>
              <a:t>Volume distribution is uneven.</a:t>
            </a:r>
          </a:p>
          <a:p>
            <a:pPr marL="518158" lvl="1" indent="-259079" algn="just">
              <a:lnSpc>
                <a:spcPts val="2399"/>
              </a:lnSpc>
              <a:buFont typeface="Arial"/>
              <a:buChar char="•"/>
            </a:pPr>
            <a:r>
              <a:rPr lang="en-US" sz="2399" b="1" spc="117">
                <a:solidFill>
                  <a:srgbClr val="FFFFFF"/>
                </a:solidFill>
                <a:latin typeface="Telegraf 1 Bold"/>
                <a:ea typeface="Telegraf 1 Bold"/>
                <a:cs typeface="Telegraf 1 Bold"/>
                <a:sym typeface="Telegraf 1 Bold"/>
              </a:rPr>
              <a:t>Low Multicollinearity: </a:t>
            </a:r>
            <a:r>
              <a:rPr lang="en-US" sz="2399" spc="117">
                <a:solidFill>
                  <a:srgbClr val="FFFFFF"/>
                </a:solidFill>
                <a:latin typeface="Telegraf 1"/>
                <a:ea typeface="Telegraf 1"/>
                <a:cs typeface="Telegraf 1"/>
                <a:sym typeface="Telegraf 1"/>
              </a:rPr>
              <a:t>No redundant data to confuse the model.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0" y="5304759"/>
            <a:ext cx="18288000" cy="4663440"/>
          </a:xfrm>
          <a:custGeom>
            <a:avLst/>
            <a:gdLst/>
            <a:ahLst/>
            <a:cxnLst/>
            <a:rect l="l" t="t" r="r" b="b"/>
            <a:pathLst>
              <a:path w="18288000" h="4663440">
                <a:moveTo>
                  <a:pt x="0" y="0"/>
                </a:moveTo>
                <a:lnTo>
                  <a:pt x="18288000" y="0"/>
                </a:lnTo>
                <a:lnTo>
                  <a:pt x="18288000" y="4663440"/>
                </a:lnTo>
                <a:lnTo>
                  <a:pt x="0" y="4663440"/>
                </a:lnTo>
                <a:lnTo>
                  <a:pt x="0" y="0"/>
                </a:lnTo>
                <a:close/>
              </a:path>
            </a:pathLst>
          </a:custGeom>
          <a:blipFill>
            <a:blip r:embed="rId2"/>
            <a:stretch>
              <a:fillRect/>
            </a:stretch>
          </a:blipFill>
        </p:spPr>
        <p:txBody>
          <a:bodyPr/>
          <a:lstStyle/>
          <a:p>
            <a:endParaRPr lang="en-GB"/>
          </a:p>
        </p:txBody>
      </p:sp>
      <p:sp>
        <p:nvSpPr>
          <p:cNvPr id="3" name="Freeform 3"/>
          <p:cNvSpPr/>
          <p:nvPr/>
        </p:nvSpPr>
        <p:spPr>
          <a:xfrm>
            <a:off x="0" y="1456025"/>
            <a:ext cx="18288000" cy="2537460"/>
          </a:xfrm>
          <a:custGeom>
            <a:avLst/>
            <a:gdLst/>
            <a:ahLst/>
            <a:cxnLst/>
            <a:rect l="l" t="t" r="r" b="b"/>
            <a:pathLst>
              <a:path w="18288000" h="2537460">
                <a:moveTo>
                  <a:pt x="0" y="0"/>
                </a:moveTo>
                <a:lnTo>
                  <a:pt x="18288000" y="0"/>
                </a:lnTo>
                <a:lnTo>
                  <a:pt x="18288000" y="2537460"/>
                </a:lnTo>
                <a:lnTo>
                  <a:pt x="0" y="2537460"/>
                </a:lnTo>
                <a:lnTo>
                  <a:pt x="0" y="0"/>
                </a:lnTo>
                <a:close/>
              </a:path>
            </a:pathLst>
          </a:custGeom>
          <a:blipFill>
            <a:blip r:embed="rId3"/>
            <a:stretch>
              <a:fillRect/>
            </a:stretch>
          </a:blipFill>
        </p:spPr>
        <p:txBody>
          <a:bodyPr/>
          <a:lstStyle/>
          <a:p>
            <a:endParaRPr lang="en-GB"/>
          </a:p>
        </p:txBody>
      </p:sp>
      <p:sp>
        <p:nvSpPr>
          <p:cNvPr id="4" name="TextBox 4"/>
          <p:cNvSpPr txBox="1"/>
          <p:nvPr/>
        </p:nvSpPr>
        <p:spPr>
          <a:xfrm>
            <a:off x="3393958" y="262799"/>
            <a:ext cx="11500084" cy="1073150"/>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TRAINING RANDOM FOREST MODEL</a:t>
            </a:r>
          </a:p>
        </p:txBody>
      </p:sp>
      <p:sp>
        <p:nvSpPr>
          <p:cNvPr id="5" name="TextBox 5"/>
          <p:cNvSpPr txBox="1"/>
          <p:nvPr/>
        </p:nvSpPr>
        <p:spPr>
          <a:xfrm>
            <a:off x="3393958" y="4107785"/>
            <a:ext cx="11500084" cy="1073150"/>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POST TRAINING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aphicFrame>
        <p:nvGraphicFramePr>
          <p:cNvPr id="2" name="Object 2"/>
          <p:cNvGraphicFramePr/>
          <p:nvPr/>
        </p:nvGraphicFramePr>
        <p:xfrm>
          <a:off x="1724025" y="6514363"/>
          <a:ext cx="5657850" cy="2514600"/>
        </p:xfrm>
        <a:graphic>
          <a:graphicData uri="http://schemas.openxmlformats.org/presentationml/2006/ole">
            <mc:AlternateContent xmlns:mc="http://schemas.openxmlformats.org/markup-compatibility/2006">
              <mc:Choice xmlns:v="urn:schemas-microsoft-com:vml" Requires="v">
                <p:oleObj name="Worksheet" r:id="rId2" imgW="6781800" imgH="3644900" progId="Excel.Sheet.12">
                  <p:embed/>
                </p:oleObj>
              </mc:Choice>
              <mc:Fallback>
                <p:oleObj name="Worksheet" r:id="rId2" imgW="6781800" imgH="3644900" progId="Excel.Sheet.12">
                  <p:embed/>
                  <p:pic>
                    <p:nvPicPr>
                      <p:cNvPr id="0" name=""/>
                      <p:cNvPicPr/>
                      <p:nvPr/>
                    </p:nvPicPr>
                    <p:blipFill>
                      <a:blip r:embed="rId3"/>
                      <a:stretch>
                        <a:fillRect/>
                      </a:stretch>
                    </p:blipFill>
                    <p:spPr>
                      <a:xfrm>
                        <a:off x="1724025" y="6514363"/>
                        <a:ext cx="5657850" cy="2514600"/>
                      </a:xfrm>
                      <a:prstGeom prst="rect">
                        <a:avLst/>
                      </a:prstGeom>
                    </p:spPr>
                  </p:pic>
                </p:oleObj>
              </mc:Fallback>
            </mc:AlternateContent>
          </a:graphicData>
        </a:graphic>
      </p:graphicFrame>
      <p:sp>
        <p:nvSpPr>
          <p:cNvPr id="3" name="Freeform 3"/>
          <p:cNvSpPr/>
          <p:nvPr/>
        </p:nvSpPr>
        <p:spPr>
          <a:xfrm>
            <a:off x="1724025" y="-26661"/>
            <a:ext cx="13981656" cy="5155736"/>
          </a:xfrm>
          <a:custGeom>
            <a:avLst/>
            <a:gdLst/>
            <a:ahLst/>
            <a:cxnLst/>
            <a:rect l="l" t="t" r="r" b="b"/>
            <a:pathLst>
              <a:path w="13981656" h="5155736">
                <a:moveTo>
                  <a:pt x="0" y="0"/>
                </a:moveTo>
                <a:lnTo>
                  <a:pt x="13981656" y="0"/>
                </a:lnTo>
                <a:lnTo>
                  <a:pt x="13981656" y="5155736"/>
                </a:lnTo>
                <a:lnTo>
                  <a:pt x="0" y="5155736"/>
                </a:lnTo>
                <a:lnTo>
                  <a:pt x="0" y="0"/>
                </a:lnTo>
                <a:close/>
              </a:path>
            </a:pathLst>
          </a:custGeom>
          <a:blipFill>
            <a:blip r:embed="rId4"/>
            <a:stretch>
              <a:fillRect/>
            </a:stretch>
          </a:blipFill>
        </p:spPr>
        <p:txBody>
          <a:bodyPr/>
          <a:lstStyle/>
          <a:p>
            <a:endParaRPr lang="en-GB"/>
          </a:p>
        </p:txBody>
      </p:sp>
      <p:sp>
        <p:nvSpPr>
          <p:cNvPr id="4" name="Freeform 4"/>
          <p:cNvSpPr/>
          <p:nvPr/>
        </p:nvSpPr>
        <p:spPr>
          <a:xfrm>
            <a:off x="7748317" y="5143500"/>
            <a:ext cx="8638442" cy="5129075"/>
          </a:xfrm>
          <a:custGeom>
            <a:avLst/>
            <a:gdLst/>
            <a:ahLst/>
            <a:cxnLst/>
            <a:rect l="l" t="t" r="r" b="b"/>
            <a:pathLst>
              <a:path w="8638442" h="5129075">
                <a:moveTo>
                  <a:pt x="0" y="0"/>
                </a:moveTo>
                <a:lnTo>
                  <a:pt x="8638442" y="0"/>
                </a:lnTo>
                <a:lnTo>
                  <a:pt x="8638442" y="5129075"/>
                </a:lnTo>
                <a:lnTo>
                  <a:pt x="0" y="5129075"/>
                </a:lnTo>
                <a:lnTo>
                  <a:pt x="0" y="0"/>
                </a:lnTo>
                <a:close/>
              </a:path>
            </a:pathLst>
          </a:custGeom>
          <a:blipFill>
            <a:blip r:embed="rId5"/>
            <a:stretch>
              <a:fillRect/>
            </a:stretch>
          </a:blipFill>
        </p:spPr>
        <p:txBody>
          <a:bodyPr/>
          <a:lstStyle/>
          <a:p>
            <a:endParaRPr lang="en-GB"/>
          </a:p>
        </p:txBody>
      </p:sp>
      <p:sp>
        <p:nvSpPr>
          <p:cNvPr id="5" name="TextBox 5"/>
          <p:cNvSpPr txBox="1"/>
          <p:nvPr/>
        </p:nvSpPr>
        <p:spPr>
          <a:xfrm>
            <a:off x="17259300" y="126263"/>
            <a:ext cx="764049" cy="6388100"/>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1884141" y="2769089"/>
            <a:ext cx="3984347" cy="3063208"/>
            <a:chOff x="0" y="0"/>
            <a:chExt cx="5312462" cy="4084277"/>
          </a:xfrm>
        </p:grpSpPr>
        <p:grpSp>
          <p:nvGrpSpPr>
            <p:cNvPr id="3" name="Group 3"/>
            <p:cNvGrpSpPr/>
            <p:nvPr/>
          </p:nvGrpSpPr>
          <p:grpSpPr>
            <a:xfrm>
              <a:off x="0" y="625934"/>
              <a:ext cx="5312462" cy="3458344"/>
              <a:chOff x="0" y="0"/>
              <a:chExt cx="1737573" cy="1131138"/>
            </a:xfrm>
          </p:grpSpPr>
          <p:sp>
            <p:nvSpPr>
              <p:cNvPr id="4" name="Freeform 4"/>
              <p:cNvSpPr/>
              <p:nvPr/>
            </p:nvSpPr>
            <p:spPr>
              <a:xfrm>
                <a:off x="0" y="0"/>
                <a:ext cx="1737573" cy="1131138"/>
              </a:xfrm>
              <a:custGeom>
                <a:avLst/>
                <a:gdLst/>
                <a:ahLst/>
                <a:cxnLst/>
                <a:rect l="l" t="t" r="r" b="b"/>
                <a:pathLst>
                  <a:path w="1737573" h="1131138">
                    <a:moveTo>
                      <a:pt x="19431" y="0"/>
                    </a:moveTo>
                    <a:lnTo>
                      <a:pt x="1718142" y="0"/>
                    </a:lnTo>
                    <a:cubicBezTo>
                      <a:pt x="1723296" y="0"/>
                      <a:pt x="1728238" y="2047"/>
                      <a:pt x="1731882" y="5691"/>
                    </a:cubicBezTo>
                    <a:cubicBezTo>
                      <a:pt x="1735526" y="9335"/>
                      <a:pt x="1737573" y="14277"/>
                      <a:pt x="1737573" y="19431"/>
                    </a:cubicBezTo>
                    <a:lnTo>
                      <a:pt x="1737573" y="1111707"/>
                    </a:lnTo>
                    <a:cubicBezTo>
                      <a:pt x="1737573" y="1116860"/>
                      <a:pt x="1735526" y="1121802"/>
                      <a:pt x="1731882" y="1125446"/>
                    </a:cubicBezTo>
                    <a:cubicBezTo>
                      <a:pt x="1728238" y="1129090"/>
                      <a:pt x="1723296" y="1131138"/>
                      <a:pt x="1718142" y="1131138"/>
                    </a:cubicBezTo>
                    <a:lnTo>
                      <a:pt x="19431" y="1131138"/>
                    </a:lnTo>
                    <a:cubicBezTo>
                      <a:pt x="8699" y="1131138"/>
                      <a:pt x="0" y="1122438"/>
                      <a:pt x="0" y="1111707"/>
                    </a:cubicBezTo>
                    <a:lnTo>
                      <a:pt x="0" y="19431"/>
                    </a:lnTo>
                    <a:cubicBezTo>
                      <a:pt x="0" y="14277"/>
                      <a:pt x="2047" y="9335"/>
                      <a:pt x="5691" y="5691"/>
                    </a:cubicBezTo>
                    <a:cubicBezTo>
                      <a:pt x="9335" y="2047"/>
                      <a:pt x="14277" y="0"/>
                      <a:pt x="19431" y="0"/>
                    </a:cubicBezTo>
                    <a:close/>
                  </a:path>
                </a:pathLst>
              </a:custGeom>
              <a:solidFill>
                <a:srgbClr val="D9D9D9">
                  <a:alpha val="69804"/>
                </a:srgbClr>
              </a:solidFill>
            </p:spPr>
            <p:txBody>
              <a:bodyPr/>
              <a:lstStyle/>
              <a:p>
                <a:endParaRPr lang="en-GB"/>
              </a:p>
            </p:txBody>
          </p:sp>
          <p:sp>
            <p:nvSpPr>
              <p:cNvPr id="5" name="TextBox 5"/>
              <p:cNvSpPr txBox="1"/>
              <p:nvPr/>
            </p:nvSpPr>
            <p:spPr>
              <a:xfrm>
                <a:off x="0" y="-38100"/>
                <a:ext cx="1737573" cy="1169238"/>
              </a:xfrm>
              <a:prstGeom prst="rect">
                <a:avLst/>
              </a:prstGeom>
            </p:spPr>
            <p:txBody>
              <a:bodyPr lIns="80497" tIns="80497" rIns="80497" bIns="80497" rtlCol="0" anchor="ctr"/>
              <a:lstStyle/>
              <a:p>
                <a:pPr algn="ctr">
                  <a:lnSpc>
                    <a:spcPts val="3599"/>
                  </a:lnSpc>
                </a:pPr>
                <a:endParaRPr/>
              </a:p>
            </p:txBody>
          </p:sp>
        </p:grpSp>
        <p:grpSp>
          <p:nvGrpSpPr>
            <p:cNvPr id="6" name="Group 6"/>
            <p:cNvGrpSpPr/>
            <p:nvPr/>
          </p:nvGrpSpPr>
          <p:grpSpPr>
            <a:xfrm>
              <a:off x="2030298" y="0"/>
              <a:ext cx="1251867" cy="125186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BE6"/>
              </a:solidFill>
              <a:ln w="38100" cap="sq">
                <a:solidFill>
                  <a:srgbClr val="292828"/>
                </a:solidFill>
                <a:prstDash val="solid"/>
                <a:miter/>
              </a:ln>
            </p:spPr>
            <p:txBody>
              <a:bodyPr/>
              <a:lstStyle/>
              <a:p>
                <a:endParaRPr lang="en-GB"/>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5399"/>
                  </a:lnSpc>
                </a:pPr>
                <a:endParaRPr/>
              </a:p>
            </p:txBody>
          </p:sp>
        </p:grpSp>
        <p:sp>
          <p:nvSpPr>
            <p:cNvPr id="9" name="TextBox 9"/>
            <p:cNvSpPr txBox="1"/>
            <p:nvPr/>
          </p:nvSpPr>
          <p:spPr>
            <a:xfrm>
              <a:off x="297989" y="1575717"/>
              <a:ext cx="4716485" cy="628650"/>
            </a:xfrm>
            <a:prstGeom prst="rect">
              <a:avLst/>
            </a:prstGeom>
          </p:spPr>
          <p:txBody>
            <a:bodyPr lIns="0" tIns="0" rIns="0" bIns="0" rtlCol="0" anchor="t">
              <a:spAutoFit/>
            </a:bodyPr>
            <a:lstStyle/>
            <a:p>
              <a:pPr algn="ctr">
                <a:lnSpc>
                  <a:spcPts val="3000"/>
                </a:lnSpc>
              </a:pPr>
              <a:r>
                <a:rPr lang="en-US" sz="3000" spc="147">
                  <a:solidFill>
                    <a:srgbClr val="290606"/>
                  </a:solidFill>
                  <a:latin typeface="Cheddar"/>
                  <a:ea typeface="Cheddar"/>
                  <a:cs typeface="Cheddar"/>
                  <a:sym typeface="Cheddar"/>
                </a:rPr>
                <a:t>MORNING RUSH</a:t>
              </a:r>
            </a:p>
          </p:txBody>
        </p:sp>
        <p:sp>
          <p:nvSpPr>
            <p:cNvPr id="10" name="TextBox 10"/>
            <p:cNvSpPr txBox="1"/>
            <p:nvPr/>
          </p:nvSpPr>
          <p:spPr>
            <a:xfrm>
              <a:off x="297989" y="2595935"/>
              <a:ext cx="4716485" cy="884628"/>
            </a:xfrm>
            <a:prstGeom prst="rect">
              <a:avLst/>
            </a:prstGeom>
          </p:spPr>
          <p:txBody>
            <a:bodyPr lIns="0" tIns="0" rIns="0" bIns="0" rtlCol="0" anchor="t">
              <a:spAutoFit/>
            </a:bodyPr>
            <a:lstStyle/>
            <a:p>
              <a:pPr marL="518163" lvl="1" indent="-259082" algn="l">
                <a:lnSpc>
                  <a:spcPts val="2400"/>
                </a:lnSpc>
                <a:buFont typeface="Arial"/>
                <a:buChar char="•"/>
              </a:pPr>
              <a:r>
                <a:rPr lang="en-US" sz="2400" b="1" spc="117">
                  <a:solidFill>
                    <a:srgbClr val="290606"/>
                  </a:solidFill>
                  <a:latin typeface="Telegraf 1 Bold"/>
                  <a:ea typeface="Telegraf 1 Bold"/>
                  <a:cs typeface="Telegraf 1 Bold"/>
                  <a:sym typeface="Telegraf 1 Bold"/>
                </a:rPr>
                <a:t>8 AM, Weekday</a:t>
              </a:r>
            </a:p>
            <a:p>
              <a:pPr marL="518163" lvl="1" indent="-259082" algn="l">
                <a:lnSpc>
                  <a:spcPts val="2400"/>
                </a:lnSpc>
                <a:buFont typeface="Arial"/>
                <a:buChar char="•"/>
              </a:pPr>
              <a:r>
                <a:rPr lang="en-US" sz="2400" b="1" spc="117">
                  <a:solidFill>
                    <a:srgbClr val="290606"/>
                  </a:solidFill>
                  <a:latin typeface="Telegraf 1 Bold"/>
                  <a:ea typeface="Telegraf 1 Bold"/>
                  <a:cs typeface="Telegraf 1 Bold"/>
                  <a:sym typeface="Telegraf 1 Bold"/>
                </a:rPr>
                <a:t>Temp: 280K</a:t>
              </a:r>
            </a:p>
          </p:txBody>
        </p:sp>
      </p:grpSp>
      <p:grpSp>
        <p:nvGrpSpPr>
          <p:cNvPr id="11" name="Group 11"/>
          <p:cNvGrpSpPr/>
          <p:nvPr/>
        </p:nvGrpSpPr>
        <p:grpSpPr>
          <a:xfrm>
            <a:off x="1884141" y="8277189"/>
            <a:ext cx="3984347" cy="1113976"/>
            <a:chOff x="0" y="0"/>
            <a:chExt cx="5312462" cy="1485301"/>
          </a:xfrm>
        </p:grpSpPr>
        <p:grpSp>
          <p:nvGrpSpPr>
            <p:cNvPr id="12" name="Group 12"/>
            <p:cNvGrpSpPr/>
            <p:nvPr/>
          </p:nvGrpSpPr>
          <p:grpSpPr>
            <a:xfrm>
              <a:off x="0" y="0"/>
              <a:ext cx="5312462" cy="1485301"/>
              <a:chOff x="0" y="0"/>
              <a:chExt cx="1737573" cy="485805"/>
            </a:xfrm>
          </p:grpSpPr>
          <p:sp>
            <p:nvSpPr>
              <p:cNvPr id="13" name="Freeform 13"/>
              <p:cNvSpPr/>
              <p:nvPr/>
            </p:nvSpPr>
            <p:spPr>
              <a:xfrm>
                <a:off x="0" y="0"/>
                <a:ext cx="1737573" cy="485805"/>
              </a:xfrm>
              <a:custGeom>
                <a:avLst/>
                <a:gdLst/>
                <a:ahLst/>
                <a:cxnLst/>
                <a:rect l="l" t="t" r="r" b="b"/>
                <a:pathLst>
                  <a:path w="1737573" h="485805">
                    <a:moveTo>
                      <a:pt x="19431" y="0"/>
                    </a:moveTo>
                    <a:lnTo>
                      <a:pt x="1718142" y="0"/>
                    </a:lnTo>
                    <a:cubicBezTo>
                      <a:pt x="1723296" y="0"/>
                      <a:pt x="1728238" y="2047"/>
                      <a:pt x="1731882" y="5691"/>
                    </a:cubicBezTo>
                    <a:cubicBezTo>
                      <a:pt x="1735526" y="9335"/>
                      <a:pt x="1737573" y="14277"/>
                      <a:pt x="1737573" y="19431"/>
                    </a:cubicBezTo>
                    <a:lnTo>
                      <a:pt x="1737573" y="466374"/>
                    </a:lnTo>
                    <a:cubicBezTo>
                      <a:pt x="1737573" y="471527"/>
                      <a:pt x="1735526" y="476470"/>
                      <a:pt x="1731882" y="480114"/>
                    </a:cubicBezTo>
                    <a:cubicBezTo>
                      <a:pt x="1728238" y="483758"/>
                      <a:pt x="1723296" y="485805"/>
                      <a:pt x="1718142" y="485805"/>
                    </a:cubicBezTo>
                    <a:lnTo>
                      <a:pt x="19431" y="485805"/>
                    </a:lnTo>
                    <a:cubicBezTo>
                      <a:pt x="8699" y="485805"/>
                      <a:pt x="0" y="477105"/>
                      <a:pt x="0" y="466374"/>
                    </a:cubicBezTo>
                    <a:lnTo>
                      <a:pt x="0" y="19431"/>
                    </a:lnTo>
                    <a:cubicBezTo>
                      <a:pt x="0" y="14277"/>
                      <a:pt x="2047" y="9335"/>
                      <a:pt x="5691" y="5691"/>
                    </a:cubicBezTo>
                    <a:cubicBezTo>
                      <a:pt x="9335" y="2047"/>
                      <a:pt x="14277" y="0"/>
                      <a:pt x="19431" y="0"/>
                    </a:cubicBezTo>
                    <a:close/>
                  </a:path>
                </a:pathLst>
              </a:custGeom>
              <a:solidFill>
                <a:srgbClr val="02B676">
                  <a:alpha val="69804"/>
                </a:srgbClr>
              </a:solidFill>
            </p:spPr>
            <p:txBody>
              <a:bodyPr/>
              <a:lstStyle/>
              <a:p>
                <a:endParaRPr lang="en-GB"/>
              </a:p>
            </p:txBody>
          </p:sp>
          <p:sp>
            <p:nvSpPr>
              <p:cNvPr id="14" name="TextBox 14"/>
              <p:cNvSpPr txBox="1"/>
              <p:nvPr/>
            </p:nvSpPr>
            <p:spPr>
              <a:xfrm>
                <a:off x="0" y="-38100"/>
                <a:ext cx="1737573" cy="523905"/>
              </a:xfrm>
              <a:prstGeom prst="rect">
                <a:avLst/>
              </a:prstGeom>
            </p:spPr>
            <p:txBody>
              <a:bodyPr lIns="80497" tIns="80497" rIns="80497" bIns="80497" rtlCol="0" anchor="ctr"/>
              <a:lstStyle/>
              <a:p>
                <a:pPr algn="ctr">
                  <a:lnSpc>
                    <a:spcPts val="3599"/>
                  </a:lnSpc>
                </a:pPr>
                <a:endParaRPr/>
              </a:p>
            </p:txBody>
          </p:sp>
        </p:grpSp>
        <p:sp>
          <p:nvSpPr>
            <p:cNvPr id="15" name="TextBox 15"/>
            <p:cNvSpPr txBox="1"/>
            <p:nvPr/>
          </p:nvSpPr>
          <p:spPr>
            <a:xfrm>
              <a:off x="297989" y="284747"/>
              <a:ext cx="4716485" cy="884628"/>
            </a:xfrm>
            <a:prstGeom prst="rect">
              <a:avLst/>
            </a:prstGeom>
          </p:spPr>
          <p:txBody>
            <a:bodyPr lIns="0" tIns="0" rIns="0" bIns="0" rtlCol="0" anchor="t">
              <a:spAutoFit/>
            </a:bodyPr>
            <a:lstStyle/>
            <a:p>
              <a:pPr algn="ctr">
                <a:lnSpc>
                  <a:spcPts val="2400"/>
                </a:lnSpc>
              </a:pPr>
              <a:r>
                <a:rPr lang="en-US" sz="2400" b="1" spc="117">
                  <a:solidFill>
                    <a:srgbClr val="290606"/>
                  </a:solidFill>
                  <a:latin typeface="Telegraf 1 Bold"/>
                  <a:ea typeface="Telegraf 1 Bold"/>
                  <a:cs typeface="Telegraf 1 Bold"/>
                  <a:sym typeface="Telegraf 1 Bold"/>
                </a:rPr>
                <a:t>Phase Lengthening</a:t>
              </a:r>
            </a:p>
            <a:p>
              <a:pPr algn="ctr">
                <a:lnSpc>
                  <a:spcPts val="2400"/>
                </a:lnSpc>
              </a:pPr>
              <a:r>
                <a:rPr lang="en-US" sz="2400" b="1" spc="117">
                  <a:solidFill>
                    <a:srgbClr val="290606"/>
                  </a:solidFill>
                  <a:latin typeface="Telegraf 1 Bold"/>
                  <a:ea typeface="Telegraf 1 Bold"/>
                  <a:cs typeface="Telegraf 1 Bold"/>
                  <a:sym typeface="Telegraf 1 Bold"/>
                </a:rPr>
                <a:t>(Green +30s)</a:t>
              </a:r>
            </a:p>
          </p:txBody>
        </p:sp>
      </p:grpSp>
      <p:grpSp>
        <p:nvGrpSpPr>
          <p:cNvPr id="16" name="Group 16"/>
          <p:cNvGrpSpPr/>
          <p:nvPr/>
        </p:nvGrpSpPr>
        <p:grpSpPr>
          <a:xfrm>
            <a:off x="1884141" y="6497755"/>
            <a:ext cx="3984347" cy="1113976"/>
            <a:chOff x="0" y="0"/>
            <a:chExt cx="5312462" cy="1485301"/>
          </a:xfrm>
        </p:grpSpPr>
        <p:grpSp>
          <p:nvGrpSpPr>
            <p:cNvPr id="17" name="Group 17"/>
            <p:cNvGrpSpPr/>
            <p:nvPr/>
          </p:nvGrpSpPr>
          <p:grpSpPr>
            <a:xfrm>
              <a:off x="0" y="0"/>
              <a:ext cx="5312462" cy="1485301"/>
              <a:chOff x="0" y="0"/>
              <a:chExt cx="1737573" cy="485805"/>
            </a:xfrm>
          </p:grpSpPr>
          <p:sp>
            <p:nvSpPr>
              <p:cNvPr id="18" name="Freeform 18"/>
              <p:cNvSpPr/>
              <p:nvPr/>
            </p:nvSpPr>
            <p:spPr>
              <a:xfrm>
                <a:off x="0" y="0"/>
                <a:ext cx="1737573" cy="485805"/>
              </a:xfrm>
              <a:custGeom>
                <a:avLst/>
                <a:gdLst/>
                <a:ahLst/>
                <a:cxnLst/>
                <a:rect l="l" t="t" r="r" b="b"/>
                <a:pathLst>
                  <a:path w="1737573" h="485805">
                    <a:moveTo>
                      <a:pt x="19431" y="0"/>
                    </a:moveTo>
                    <a:lnTo>
                      <a:pt x="1718142" y="0"/>
                    </a:lnTo>
                    <a:cubicBezTo>
                      <a:pt x="1723296" y="0"/>
                      <a:pt x="1728238" y="2047"/>
                      <a:pt x="1731882" y="5691"/>
                    </a:cubicBezTo>
                    <a:cubicBezTo>
                      <a:pt x="1735526" y="9335"/>
                      <a:pt x="1737573" y="14277"/>
                      <a:pt x="1737573" y="19431"/>
                    </a:cubicBezTo>
                    <a:lnTo>
                      <a:pt x="1737573" y="466374"/>
                    </a:lnTo>
                    <a:cubicBezTo>
                      <a:pt x="1737573" y="471527"/>
                      <a:pt x="1735526" y="476470"/>
                      <a:pt x="1731882" y="480114"/>
                    </a:cubicBezTo>
                    <a:cubicBezTo>
                      <a:pt x="1728238" y="483758"/>
                      <a:pt x="1723296" y="485805"/>
                      <a:pt x="1718142" y="485805"/>
                    </a:cubicBezTo>
                    <a:lnTo>
                      <a:pt x="19431" y="485805"/>
                    </a:lnTo>
                    <a:cubicBezTo>
                      <a:pt x="8699" y="485805"/>
                      <a:pt x="0" y="477105"/>
                      <a:pt x="0" y="466374"/>
                    </a:cubicBezTo>
                    <a:lnTo>
                      <a:pt x="0" y="19431"/>
                    </a:lnTo>
                    <a:cubicBezTo>
                      <a:pt x="0" y="14277"/>
                      <a:pt x="2047" y="9335"/>
                      <a:pt x="5691" y="5691"/>
                    </a:cubicBezTo>
                    <a:cubicBezTo>
                      <a:pt x="9335" y="2047"/>
                      <a:pt x="14277" y="0"/>
                      <a:pt x="19431" y="0"/>
                    </a:cubicBezTo>
                    <a:close/>
                  </a:path>
                </a:pathLst>
              </a:custGeom>
              <a:solidFill>
                <a:srgbClr val="D9F4CD">
                  <a:alpha val="69804"/>
                </a:srgbClr>
              </a:solidFill>
            </p:spPr>
            <p:txBody>
              <a:bodyPr/>
              <a:lstStyle/>
              <a:p>
                <a:endParaRPr lang="en-GB"/>
              </a:p>
            </p:txBody>
          </p:sp>
          <p:sp>
            <p:nvSpPr>
              <p:cNvPr id="19" name="TextBox 19"/>
              <p:cNvSpPr txBox="1"/>
              <p:nvPr/>
            </p:nvSpPr>
            <p:spPr>
              <a:xfrm>
                <a:off x="0" y="-38100"/>
                <a:ext cx="1737573" cy="523905"/>
              </a:xfrm>
              <a:prstGeom prst="rect">
                <a:avLst/>
              </a:prstGeom>
            </p:spPr>
            <p:txBody>
              <a:bodyPr lIns="80497" tIns="80497" rIns="80497" bIns="80497" rtlCol="0" anchor="ctr"/>
              <a:lstStyle/>
              <a:p>
                <a:pPr algn="ctr">
                  <a:lnSpc>
                    <a:spcPts val="3599"/>
                  </a:lnSpc>
                </a:pPr>
                <a:endParaRPr/>
              </a:p>
            </p:txBody>
          </p:sp>
        </p:grpSp>
        <p:sp>
          <p:nvSpPr>
            <p:cNvPr id="20" name="TextBox 20"/>
            <p:cNvSpPr txBox="1"/>
            <p:nvPr/>
          </p:nvSpPr>
          <p:spPr>
            <a:xfrm>
              <a:off x="297989" y="284747"/>
              <a:ext cx="4716485" cy="884628"/>
            </a:xfrm>
            <a:prstGeom prst="rect">
              <a:avLst/>
            </a:prstGeom>
          </p:spPr>
          <p:txBody>
            <a:bodyPr lIns="0" tIns="0" rIns="0" bIns="0" rtlCol="0" anchor="t">
              <a:spAutoFit/>
            </a:bodyPr>
            <a:lstStyle/>
            <a:p>
              <a:pPr algn="ctr">
                <a:lnSpc>
                  <a:spcPts val="2400"/>
                </a:lnSpc>
              </a:pPr>
              <a:r>
                <a:rPr lang="en-US" sz="2400" b="1" spc="117">
                  <a:solidFill>
                    <a:srgbClr val="290606"/>
                  </a:solidFill>
                  <a:latin typeface="Telegraf 1 Bold"/>
                  <a:ea typeface="Telegraf 1 Bold"/>
                  <a:cs typeface="Telegraf 1 Bold"/>
                  <a:sym typeface="Telegraf 1 Bold"/>
                </a:rPr>
                <a:t>Predicted Traffic:</a:t>
              </a:r>
            </a:p>
            <a:p>
              <a:pPr algn="ctr">
                <a:lnSpc>
                  <a:spcPts val="2400"/>
                </a:lnSpc>
              </a:pPr>
              <a:r>
                <a:rPr lang="en-US" sz="2400" b="1" spc="117">
                  <a:solidFill>
                    <a:srgbClr val="290606"/>
                  </a:solidFill>
                  <a:latin typeface="Telegraf 1 Bold"/>
                  <a:ea typeface="Telegraf 1 Bold"/>
                  <a:cs typeface="Telegraf 1 Bold"/>
                  <a:sym typeface="Telegraf 1 Bold"/>
                </a:rPr>
                <a:t>5420 cars</a:t>
              </a:r>
            </a:p>
          </p:txBody>
        </p:sp>
      </p:grpSp>
      <p:sp>
        <p:nvSpPr>
          <p:cNvPr id="21" name="AutoShape 21"/>
          <p:cNvSpPr/>
          <p:nvPr/>
        </p:nvSpPr>
        <p:spPr>
          <a:xfrm>
            <a:off x="3876314" y="5832297"/>
            <a:ext cx="90040" cy="665458"/>
          </a:xfrm>
          <a:prstGeom prst="line">
            <a:avLst/>
          </a:prstGeom>
          <a:ln w="38100" cap="flat">
            <a:solidFill>
              <a:srgbClr val="000000"/>
            </a:solidFill>
            <a:prstDash val="solid"/>
            <a:headEnd type="none" w="sm" len="sm"/>
            <a:tailEnd type="triangle" w="lg" len="med"/>
          </a:ln>
        </p:spPr>
        <p:txBody>
          <a:bodyPr/>
          <a:lstStyle/>
          <a:p>
            <a:endParaRPr lang="en-GB"/>
          </a:p>
        </p:txBody>
      </p:sp>
      <p:sp>
        <p:nvSpPr>
          <p:cNvPr id="22" name="AutoShape 22"/>
          <p:cNvSpPr/>
          <p:nvPr/>
        </p:nvSpPr>
        <p:spPr>
          <a:xfrm flipH="1">
            <a:off x="3876314" y="7580846"/>
            <a:ext cx="0" cy="696343"/>
          </a:xfrm>
          <a:prstGeom prst="line">
            <a:avLst/>
          </a:prstGeom>
          <a:ln w="38100" cap="flat">
            <a:solidFill>
              <a:srgbClr val="000000"/>
            </a:solidFill>
            <a:prstDash val="solid"/>
            <a:headEnd type="none" w="sm" len="sm"/>
            <a:tailEnd type="triangle" w="lg" len="med"/>
          </a:ln>
        </p:spPr>
        <p:txBody>
          <a:bodyPr/>
          <a:lstStyle/>
          <a:p>
            <a:endParaRPr lang="en-GB"/>
          </a:p>
        </p:txBody>
      </p:sp>
      <p:grpSp>
        <p:nvGrpSpPr>
          <p:cNvPr id="23" name="Group 23"/>
          <p:cNvGrpSpPr/>
          <p:nvPr/>
        </p:nvGrpSpPr>
        <p:grpSpPr>
          <a:xfrm>
            <a:off x="7151827" y="2769089"/>
            <a:ext cx="3984347" cy="3063208"/>
            <a:chOff x="0" y="0"/>
            <a:chExt cx="5312462" cy="4084277"/>
          </a:xfrm>
        </p:grpSpPr>
        <p:grpSp>
          <p:nvGrpSpPr>
            <p:cNvPr id="24" name="Group 24"/>
            <p:cNvGrpSpPr/>
            <p:nvPr/>
          </p:nvGrpSpPr>
          <p:grpSpPr>
            <a:xfrm>
              <a:off x="0" y="625934"/>
              <a:ext cx="5312462" cy="3458344"/>
              <a:chOff x="0" y="0"/>
              <a:chExt cx="1737573" cy="1131138"/>
            </a:xfrm>
          </p:grpSpPr>
          <p:sp>
            <p:nvSpPr>
              <p:cNvPr id="25" name="Freeform 25"/>
              <p:cNvSpPr/>
              <p:nvPr/>
            </p:nvSpPr>
            <p:spPr>
              <a:xfrm>
                <a:off x="0" y="0"/>
                <a:ext cx="1737573" cy="1131138"/>
              </a:xfrm>
              <a:custGeom>
                <a:avLst/>
                <a:gdLst/>
                <a:ahLst/>
                <a:cxnLst/>
                <a:rect l="l" t="t" r="r" b="b"/>
                <a:pathLst>
                  <a:path w="1737573" h="1131138">
                    <a:moveTo>
                      <a:pt x="19431" y="0"/>
                    </a:moveTo>
                    <a:lnTo>
                      <a:pt x="1718142" y="0"/>
                    </a:lnTo>
                    <a:cubicBezTo>
                      <a:pt x="1723296" y="0"/>
                      <a:pt x="1728238" y="2047"/>
                      <a:pt x="1731882" y="5691"/>
                    </a:cubicBezTo>
                    <a:cubicBezTo>
                      <a:pt x="1735526" y="9335"/>
                      <a:pt x="1737573" y="14277"/>
                      <a:pt x="1737573" y="19431"/>
                    </a:cubicBezTo>
                    <a:lnTo>
                      <a:pt x="1737573" y="1111707"/>
                    </a:lnTo>
                    <a:cubicBezTo>
                      <a:pt x="1737573" y="1116860"/>
                      <a:pt x="1735526" y="1121802"/>
                      <a:pt x="1731882" y="1125446"/>
                    </a:cubicBezTo>
                    <a:cubicBezTo>
                      <a:pt x="1728238" y="1129090"/>
                      <a:pt x="1723296" y="1131138"/>
                      <a:pt x="1718142" y="1131138"/>
                    </a:cubicBezTo>
                    <a:lnTo>
                      <a:pt x="19431" y="1131138"/>
                    </a:lnTo>
                    <a:cubicBezTo>
                      <a:pt x="8699" y="1131138"/>
                      <a:pt x="0" y="1122438"/>
                      <a:pt x="0" y="1111707"/>
                    </a:cubicBezTo>
                    <a:lnTo>
                      <a:pt x="0" y="19431"/>
                    </a:lnTo>
                    <a:cubicBezTo>
                      <a:pt x="0" y="14277"/>
                      <a:pt x="2047" y="9335"/>
                      <a:pt x="5691" y="5691"/>
                    </a:cubicBezTo>
                    <a:cubicBezTo>
                      <a:pt x="9335" y="2047"/>
                      <a:pt x="14277" y="0"/>
                      <a:pt x="19431" y="0"/>
                    </a:cubicBezTo>
                    <a:close/>
                  </a:path>
                </a:pathLst>
              </a:custGeom>
              <a:solidFill>
                <a:srgbClr val="D9D9D9">
                  <a:alpha val="69804"/>
                </a:srgbClr>
              </a:solidFill>
            </p:spPr>
            <p:txBody>
              <a:bodyPr/>
              <a:lstStyle/>
              <a:p>
                <a:endParaRPr lang="en-GB"/>
              </a:p>
            </p:txBody>
          </p:sp>
          <p:sp>
            <p:nvSpPr>
              <p:cNvPr id="26" name="TextBox 26"/>
              <p:cNvSpPr txBox="1"/>
              <p:nvPr/>
            </p:nvSpPr>
            <p:spPr>
              <a:xfrm>
                <a:off x="0" y="-38100"/>
                <a:ext cx="1737573" cy="1169238"/>
              </a:xfrm>
              <a:prstGeom prst="rect">
                <a:avLst/>
              </a:prstGeom>
            </p:spPr>
            <p:txBody>
              <a:bodyPr lIns="80497" tIns="80497" rIns="80497" bIns="80497" rtlCol="0" anchor="ctr"/>
              <a:lstStyle/>
              <a:p>
                <a:pPr algn="ctr">
                  <a:lnSpc>
                    <a:spcPts val="3599"/>
                  </a:lnSpc>
                </a:pPr>
                <a:endParaRPr/>
              </a:p>
            </p:txBody>
          </p:sp>
        </p:grpSp>
        <p:grpSp>
          <p:nvGrpSpPr>
            <p:cNvPr id="27" name="Group 27"/>
            <p:cNvGrpSpPr/>
            <p:nvPr/>
          </p:nvGrpSpPr>
          <p:grpSpPr>
            <a:xfrm>
              <a:off x="2030298" y="0"/>
              <a:ext cx="1251867" cy="125186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BE6"/>
              </a:solidFill>
              <a:ln w="38100" cap="sq">
                <a:solidFill>
                  <a:srgbClr val="292828"/>
                </a:solidFill>
                <a:prstDash val="solid"/>
                <a:miter/>
              </a:ln>
            </p:spPr>
            <p:txBody>
              <a:bodyPr/>
              <a:lstStyle/>
              <a:p>
                <a:endParaRPr lang="en-GB"/>
              </a:p>
            </p:txBody>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5399"/>
                  </a:lnSpc>
                </a:pPr>
                <a:endParaRPr/>
              </a:p>
            </p:txBody>
          </p:sp>
        </p:grpSp>
        <p:sp>
          <p:nvSpPr>
            <p:cNvPr id="30" name="TextBox 30"/>
            <p:cNvSpPr txBox="1"/>
            <p:nvPr/>
          </p:nvSpPr>
          <p:spPr>
            <a:xfrm>
              <a:off x="297989" y="1575717"/>
              <a:ext cx="4716485" cy="628650"/>
            </a:xfrm>
            <a:prstGeom prst="rect">
              <a:avLst/>
            </a:prstGeom>
          </p:spPr>
          <p:txBody>
            <a:bodyPr lIns="0" tIns="0" rIns="0" bIns="0" rtlCol="0" anchor="t">
              <a:spAutoFit/>
            </a:bodyPr>
            <a:lstStyle/>
            <a:p>
              <a:pPr algn="ctr">
                <a:lnSpc>
                  <a:spcPts val="3000"/>
                </a:lnSpc>
              </a:pPr>
              <a:r>
                <a:rPr lang="en-US" sz="3000" spc="147">
                  <a:solidFill>
                    <a:srgbClr val="290606"/>
                  </a:solidFill>
                  <a:latin typeface="Cheddar"/>
                  <a:ea typeface="Cheddar"/>
                  <a:cs typeface="Cheddar"/>
                  <a:sym typeface="Cheddar"/>
                </a:rPr>
                <a:t>RAINY AFTERNOON</a:t>
              </a:r>
            </a:p>
          </p:txBody>
        </p:sp>
        <p:sp>
          <p:nvSpPr>
            <p:cNvPr id="31" name="TextBox 31"/>
            <p:cNvSpPr txBox="1"/>
            <p:nvPr/>
          </p:nvSpPr>
          <p:spPr>
            <a:xfrm>
              <a:off x="297989" y="2595935"/>
              <a:ext cx="4716485" cy="884628"/>
            </a:xfrm>
            <a:prstGeom prst="rect">
              <a:avLst/>
            </a:prstGeom>
          </p:spPr>
          <p:txBody>
            <a:bodyPr lIns="0" tIns="0" rIns="0" bIns="0" rtlCol="0" anchor="t">
              <a:spAutoFit/>
            </a:bodyPr>
            <a:lstStyle/>
            <a:p>
              <a:pPr marL="518163" lvl="1" indent="-259082" algn="l">
                <a:lnSpc>
                  <a:spcPts val="2400"/>
                </a:lnSpc>
                <a:buFont typeface="Arial"/>
                <a:buChar char="•"/>
              </a:pPr>
              <a:r>
                <a:rPr lang="en-US" sz="2400" b="1" spc="117">
                  <a:solidFill>
                    <a:srgbClr val="290606"/>
                  </a:solidFill>
                  <a:latin typeface="Telegraf 1 Bold"/>
                  <a:ea typeface="Telegraf 1 Bold"/>
                  <a:cs typeface="Telegraf 1 Bold"/>
                  <a:sym typeface="Telegraf 1 Bold"/>
                </a:rPr>
                <a:t>3 PM, Weekday</a:t>
              </a:r>
            </a:p>
            <a:p>
              <a:pPr marL="518163" lvl="1" indent="-259082" algn="l">
                <a:lnSpc>
                  <a:spcPts val="2400"/>
                </a:lnSpc>
                <a:buFont typeface="Arial"/>
                <a:buChar char="•"/>
              </a:pPr>
              <a:r>
                <a:rPr lang="en-US" sz="2400" b="1" spc="117">
                  <a:solidFill>
                    <a:srgbClr val="290606"/>
                  </a:solidFill>
                  <a:latin typeface="Telegraf 1 Bold"/>
                  <a:ea typeface="Telegraf 1 Bold"/>
                  <a:cs typeface="Telegraf 1 Bold"/>
                  <a:sym typeface="Telegraf 1 Bold"/>
                </a:rPr>
                <a:t>Rain: 5mm</a:t>
              </a:r>
            </a:p>
          </p:txBody>
        </p:sp>
        <p:sp>
          <p:nvSpPr>
            <p:cNvPr id="32" name="Freeform 32"/>
            <p:cNvSpPr/>
            <p:nvPr/>
          </p:nvSpPr>
          <p:spPr>
            <a:xfrm>
              <a:off x="2205419" y="186613"/>
              <a:ext cx="901624" cy="739332"/>
            </a:xfrm>
            <a:custGeom>
              <a:avLst/>
              <a:gdLst/>
              <a:ahLst/>
              <a:cxnLst/>
              <a:rect l="l" t="t" r="r" b="b"/>
              <a:pathLst>
                <a:path w="901624" h="739332">
                  <a:moveTo>
                    <a:pt x="0" y="0"/>
                  </a:moveTo>
                  <a:lnTo>
                    <a:pt x="901624" y="0"/>
                  </a:lnTo>
                  <a:lnTo>
                    <a:pt x="901624" y="739331"/>
                  </a:lnTo>
                  <a:lnTo>
                    <a:pt x="0" y="739331"/>
                  </a:lnTo>
                  <a:lnTo>
                    <a:pt x="0" y="0"/>
                  </a:lnTo>
                  <a:close/>
                </a:path>
              </a:pathLst>
            </a:custGeom>
            <a:blipFill>
              <a:blip r:embed="rId2"/>
              <a:stretch>
                <a:fillRect/>
              </a:stretch>
            </a:blipFill>
          </p:spPr>
          <p:txBody>
            <a:bodyPr/>
            <a:lstStyle/>
            <a:p>
              <a:endParaRPr lang="en-GB"/>
            </a:p>
          </p:txBody>
        </p:sp>
      </p:grpSp>
      <p:grpSp>
        <p:nvGrpSpPr>
          <p:cNvPr id="33" name="Group 33"/>
          <p:cNvGrpSpPr/>
          <p:nvPr/>
        </p:nvGrpSpPr>
        <p:grpSpPr>
          <a:xfrm>
            <a:off x="7151827" y="8277189"/>
            <a:ext cx="3984347" cy="1113976"/>
            <a:chOff x="0" y="0"/>
            <a:chExt cx="5312462" cy="1485301"/>
          </a:xfrm>
        </p:grpSpPr>
        <p:grpSp>
          <p:nvGrpSpPr>
            <p:cNvPr id="34" name="Group 34"/>
            <p:cNvGrpSpPr/>
            <p:nvPr/>
          </p:nvGrpSpPr>
          <p:grpSpPr>
            <a:xfrm>
              <a:off x="0" y="0"/>
              <a:ext cx="5312462" cy="1485301"/>
              <a:chOff x="0" y="0"/>
              <a:chExt cx="1737573" cy="485805"/>
            </a:xfrm>
          </p:grpSpPr>
          <p:sp>
            <p:nvSpPr>
              <p:cNvPr id="35" name="Freeform 35"/>
              <p:cNvSpPr/>
              <p:nvPr/>
            </p:nvSpPr>
            <p:spPr>
              <a:xfrm>
                <a:off x="0" y="0"/>
                <a:ext cx="1737573" cy="485805"/>
              </a:xfrm>
              <a:custGeom>
                <a:avLst/>
                <a:gdLst/>
                <a:ahLst/>
                <a:cxnLst/>
                <a:rect l="l" t="t" r="r" b="b"/>
                <a:pathLst>
                  <a:path w="1737573" h="485805">
                    <a:moveTo>
                      <a:pt x="19431" y="0"/>
                    </a:moveTo>
                    <a:lnTo>
                      <a:pt x="1718142" y="0"/>
                    </a:lnTo>
                    <a:cubicBezTo>
                      <a:pt x="1723296" y="0"/>
                      <a:pt x="1728238" y="2047"/>
                      <a:pt x="1731882" y="5691"/>
                    </a:cubicBezTo>
                    <a:cubicBezTo>
                      <a:pt x="1735526" y="9335"/>
                      <a:pt x="1737573" y="14277"/>
                      <a:pt x="1737573" y="19431"/>
                    </a:cubicBezTo>
                    <a:lnTo>
                      <a:pt x="1737573" y="466374"/>
                    </a:lnTo>
                    <a:cubicBezTo>
                      <a:pt x="1737573" y="471527"/>
                      <a:pt x="1735526" y="476470"/>
                      <a:pt x="1731882" y="480114"/>
                    </a:cubicBezTo>
                    <a:cubicBezTo>
                      <a:pt x="1728238" y="483758"/>
                      <a:pt x="1723296" y="485805"/>
                      <a:pt x="1718142" y="485805"/>
                    </a:cubicBezTo>
                    <a:lnTo>
                      <a:pt x="19431" y="485805"/>
                    </a:lnTo>
                    <a:cubicBezTo>
                      <a:pt x="8699" y="485805"/>
                      <a:pt x="0" y="477105"/>
                      <a:pt x="0" y="466374"/>
                    </a:cubicBezTo>
                    <a:lnTo>
                      <a:pt x="0" y="19431"/>
                    </a:lnTo>
                    <a:cubicBezTo>
                      <a:pt x="0" y="14277"/>
                      <a:pt x="2047" y="9335"/>
                      <a:pt x="5691" y="5691"/>
                    </a:cubicBezTo>
                    <a:cubicBezTo>
                      <a:pt x="9335" y="2047"/>
                      <a:pt x="14277" y="0"/>
                      <a:pt x="19431" y="0"/>
                    </a:cubicBezTo>
                    <a:close/>
                  </a:path>
                </a:pathLst>
              </a:custGeom>
              <a:solidFill>
                <a:srgbClr val="1FEAA2">
                  <a:alpha val="69804"/>
                </a:srgbClr>
              </a:solidFill>
            </p:spPr>
            <p:txBody>
              <a:bodyPr/>
              <a:lstStyle/>
              <a:p>
                <a:endParaRPr lang="en-GB"/>
              </a:p>
            </p:txBody>
          </p:sp>
          <p:sp>
            <p:nvSpPr>
              <p:cNvPr id="36" name="TextBox 36"/>
              <p:cNvSpPr txBox="1"/>
              <p:nvPr/>
            </p:nvSpPr>
            <p:spPr>
              <a:xfrm>
                <a:off x="0" y="-38100"/>
                <a:ext cx="1737573" cy="523905"/>
              </a:xfrm>
              <a:prstGeom prst="rect">
                <a:avLst/>
              </a:prstGeom>
            </p:spPr>
            <p:txBody>
              <a:bodyPr lIns="80497" tIns="80497" rIns="80497" bIns="80497" rtlCol="0" anchor="ctr"/>
              <a:lstStyle/>
              <a:p>
                <a:pPr algn="ctr">
                  <a:lnSpc>
                    <a:spcPts val="3599"/>
                  </a:lnSpc>
                </a:pPr>
                <a:endParaRPr/>
              </a:p>
            </p:txBody>
          </p:sp>
        </p:grpSp>
        <p:sp>
          <p:nvSpPr>
            <p:cNvPr id="37" name="TextBox 37"/>
            <p:cNvSpPr txBox="1"/>
            <p:nvPr/>
          </p:nvSpPr>
          <p:spPr>
            <a:xfrm>
              <a:off x="297989" y="284747"/>
              <a:ext cx="4716485" cy="884628"/>
            </a:xfrm>
            <a:prstGeom prst="rect">
              <a:avLst/>
            </a:prstGeom>
          </p:spPr>
          <p:txBody>
            <a:bodyPr lIns="0" tIns="0" rIns="0" bIns="0" rtlCol="0" anchor="t">
              <a:spAutoFit/>
            </a:bodyPr>
            <a:lstStyle/>
            <a:p>
              <a:pPr algn="ctr">
                <a:lnSpc>
                  <a:spcPts val="2400"/>
                </a:lnSpc>
              </a:pPr>
              <a:r>
                <a:rPr lang="en-US" sz="2400" b="1" spc="117">
                  <a:solidFill>
                    <a:srgbClr val="290606"/>
                  </a:solidFill>
                  <a:latin typeface="Telegraf 1 Bold"/>
                  <a:ea typeface="Telegraf 1 Bold"/>
                  <a:cs typeface="Telegraf 1 Bold"/>
                  <a:sym typeface="Telegraf 1 Bold"/>
                </a:rPr>
                <a:t>Phase Lengthening</a:t>
              </a:r>
            </a:p>
            <a:p>
              <a:pPr algn="ctr">
                <a:lnSpc>
                  <a:spcPts val="2400"/>
                </a:lnSpc>
              </a:pPr>
              <a:r>
                <a:rPr lang="en-US" sz="2400" b="1" spc="117">
                  <a:solidFill>
                    <a:srgbClr val="290606"/>
                  </a:solidFill>
                  <a:latin typeface="Telegraf 1 Bold"/>
                  <a:ea typeface="Telegraf 1 Bold"/>
                  <a:cs typeface="Telegraf 1 Bold"/>
                  <a:sym typeface="Telegraf 1 Bold"/>
                </a:rPr>
                <a:t>(Green +15s)</a:t>
              </a:r>
            </a:p>
          </p:txBody>
        </p:sp>
      </p:grpSp>
      <p:grpSp>
        <p:nvGrpSpPr>
          <p:cNvPr id="38" name="Group 38"/>
          <p:cNvGrpSpPr/>
          <p:nvPr/>
        </p:nvGrpSpPr>
        <p:grpSpPr>
          <a:xfrm>
            <a:off x="7151827" y="6497755"/>
            <a:ext cx="3984347" cy="1113976"/>
            <a:chOff x="0" y="0"/>
            <a:chExt cx="5312462" cy="1485301"/>
          </a:xfrm>
        </p:grpSpPr>
        <p:grpSp>
          <p:nvGrpSpPr>
            <p:cNvPr id="39" name="Group 39"/>
            <p:cNvGrpSpPr/>
            <p:nvPr/>
          </p:nvGrpSpPr>
          <p:grpSpPr>
            <a:xfrm>
              <a:off x="0" y="0"/>
              <a:ext cx="5312462" cy="1485301"/>
              <a:chOff x="0" y="0"/>
              <a:chExt cx="1737573" cy="485805"/>
            </a:xfrm>
          </p:grpSpPr>
          <p:sp>
            <p:nvSpPr>
              <p:cNvPr id="40" name="Freeform 40"/>
              <p:cNvSpPr/>
              <p:nvPr/>
            </p:nvSpPr>
            <p:spPr>
              <a:xfrm>
                <a:off x="0" y="0"/>
                <a:ext cx="1737573" cy="485805"/>
              </a:xfrm>
              <a:custGeom>
                <a:avLst/>
                <a:gdLst/>
                <a:ahLst/>
                <a:cxnLst/>
                <a:rect l="l" t="t" r="r" b="b"/>
                <a:pathLst>
                  <a:path w="1737573" h="485805">
                    <a:moveTo>
                      <a:pt x="19431" y="0"/>
                    </a:moveTo>
                    <a:lnTo>
                      <a:pt x="1718142" y="0"/>
                    </a:lnTo>
                    <a:cubicBezTo>
                      <a:pt x="1723296" y="0"/>
                      <a:pt x="1728238" y="2047"/>
                      <a:pt x="1731882" y="5691"/>
                    </a:cubicBezTo>
                    <a:cubicBezTo>
                      <a:pt x="1735526" y="9335"/>
                      <a:pt x="1737573" y="14277"/>
                      <a:pt x="1737573" y="19431"/>
                    </a:cubicBezTo>
                    <a:lnTo>
                      <a:pt x="1737573" y="466374"/>
                    </a:lnTo>
                    <a:cubicBezTo>
                      <a:pt x="1737573" y="471527"/>
                      <a:pt x="1735526" y="476470"/>
                      <a:pt x="1731882" y="480114"/>
                    </a:cubicBezTo>
                    <a:cubicBezTo>
                      <a:pt x="1728238" y="483758"/>
                      <a:pt x="1723296" y="485805"/>
                      <a:pt x="1718142" y="485805"/>
                    </a:cubicBezTo>
                    <a:lnTo>
                      <a:pt x="19431" y="485805"/>
                    </a:lnTo>
                    <a:cubicBezTo>
                      <a:pt x="8699" y="485805"/>
                      <a:pt x="0" y="477105"/>
                      <a:pt x="0" y="466374"/>
                    </a:cubicBezTo>
                    <a:lnTo>
                      <a:pt x="0" y="19431"/>
                    </a:lnTo>
                    <a:cubicBezTo>
                      <a:pt x="0" y="14277"/>
                      <a:pt x="2047" y="9335"/>
                      <a:pt x="5691" y="5691"/>
                    </a:cubicBezTo>
                    <a:cubicBezTo>
                      <a:pt x="9335" y="2047"/>
                      <a:pt x="14277" y="0"/>
                      <a:pt x="19431" y="0"/>
                    </a:cubicBezTo>
                    <a:close/>
                  </a:path>
                </a:pathLst>
              </a:custGeom>
              <a:solidFill>
                <a:srgbClr val="D9F4CD">
                  <a:alpha val="69804"/>
                </a:srgbClr>
              </a:solidFill>
            </p:spPr>
            <p:txBody>
              <a:bodyPr/>
              <a:lstStyle/>
              <a:p>
                <a:endParaRPr lang="en-GB"/>
              </a:p>
            </p:txBody>
          </p:sp>
          <p:sp>
            <p:nvSpPr>
              <p:cNvPr id="41" name="TextBox 41"/>
              <p:cNvSpPr txBox="1"/>
              <p:nvPr/>
            </p:nvSpPr>
            <p:spPr>
              <a:xfrm>
                <a:off x="0" y="-38100"/>
                <a:ext cx="1737573" cy="523905"/>
              </a:xfrm>
              <a:prstGeom prst="rect">
                <a:avLst/>
              </a:prstGeom>
            </p:spPr>
            <p:txBody>
              <a:bodyPr lIns="80497" tIns="80497" rIns="80497" bIns="80497" rtlCol="0" anchor="ctr"/>
              <a:lstStyle/>
              <a:p>
                <a:pPr algn="ctr">
                  <a:lnSpc>
                    <a:spcPts val="3599"/>
                  </a:lnSpc>
                </a:pPr>
                <a:endParaRPr/>
              </a:p>
            </p:txBody>
          </p:sp>
        </p:grpSp>
        <p:sp>
          <p:nvSpPr>
            <p:cNvPr id="42" name="TextBox 42"/>
            <p:cNvSpPr txBox="1"/>
            <p:nvPr/>
          </p:nvSpPr>
          <p:spPr>
            <a:xfrm>
              <a:off x="297989" y="284747"/>
              <a:ext cx="4716485" cy="884628"/>
            </a:xfrm>
            <a:prstGeom prst="rect">
              <a:avLst/>
            </a:prstGeom>
          </p:spPr>
          <p:txBody>
            <a:bodyPr lIns="0" tIns="0" rIns="0" bIns="0" rtlCol="0" anchor="t">
              <a:spAutoFit/>
            </a:bodyPr>
            <a:lstStyle/>
            <a:p>
              <a:pPr algn="ctr">
                <a:lnSpc>
                  <a:spcPts val="2400"/>
                </a:lnSpc>
              </a:pPr>
              <a:r>
                <a:rPr lang="en-US" sz="2400" b="1" spc="117">
                  <a:solidFill>
                    <a:srgbClr val="290606"/>
                  </a:solidFill>
                  <a:latin typeface="Telegraf 1 Bold"/>
                  <a:ea typeface="Telegraf 1 Bold"/>
                  <a:cs typeface="Telegraf 1 Bold"/>
                  <a:sym typeface="Telegraf 1 Bold"/>
                </a:rPr>
                <a:t>Predicted Traffic:</a:t>
              </a:r>
            </a:p>
            <a:p>
              <a:pPr algn="ctr">
                <a:lnSpc>
                  <a:spcPts val="2400"/>
                </a:lnSpc>
              </a:pPr>
              <a:r>
                <a:rPr lang="en-US" sz="2400" b="1" spc="117">
                  <a:solidFill>
                    <a:srgbClr val="290606"/>
                  </a:solidFill>
                  <a:latin typeface="Telegraf 1 Bold"/>
                  <a:ea typeface="Telegraf 1 Bold"/>
                  <a:cs typeface="Telegraf 1 Bold"/>
                  <a:sym typeface="Telegraf 1 Bold"/>
                </a:rPr>
                <a:t>4150 cars</a:t>
              </a:r>
            </a:p>
          </p:txBody>
        </p:sp>
      </p:grpSp>
      <p:sp>
        <p:nvSpPr>
          <p:cNvPr id="43" name="AutoShape 43"/>
          <p:cNvSpPr/>
          <p:nvPr/>
        </p:nvSpPr>
        <p:spPr>
          <a:xfrm>
            <a:off x="9144000" y="5832297"/>
            <a:ext cx="0" cy="665458"/>
          </a:xfrm>
          <a:prstGeom prst="line">
            <a:avLst/>
          </a:prstGeom>
          <a:ln w="38100" cap="flat">
            <a:solidFill>
              <a:srgbClr val="000000"/>
            </a:solidFill>
            <a:prstDash val="solid"/>
            <a:headEnd type="none" w="sm" len="sm"/>
            <a:tailEnd type="triangle" w="lg" len="med"/>
          </a:ln>
        </p:spPr>
        <p:txBody>
          <a:bodyPr/>
          <a:lstStyle/>
          <a:p>
            <a:endParaRPr lang="en-GB"/>
          </a:p>
        </p:txBody>
      </p:sp>
      <p:sp>
        <p:nvSpPr>
          <p:cNvPr id="44" name="AutoShape 44"/>
          <p:cNvSpPr/>
          <p:nvPr/>
        </p:nvSpPr>
        <p:spPr>
          <a:xfrm>
            <a:off x="9144000" y="7611731"/>
            <a:ext cx="0" cy="665458"/>
          </a:xfrm>
          <a:prstGeom prst="line">
            <a:avLst/>
          </a:prstGeom>
          <a:ln w="38100" cap="flat">
            <a:solidFill>
              <a:srgbClr val="000000"/>
            </a:solidFill>
            <a:prstDash val="solid"/>
            <a:headEnd type="none" w="sm" len="sm"/>
            <a:tailEnd type="triangle" w="lg" len="med"/>
          </a:ln>
        </p:spPr>
        <p:txBody>
          <a:bodyPr/>
          <a:lstStyle/>
          <a:p>
            <a:endParaRPr lang="en-GB"/>
          </a:p>
        </p:txBody>
      </p:sp>
      <p:grpSp>
        <p:nvGrpSpPr>
          <p:cNvPr id="45" name="Group 45"/>
          <p:cNvGrpSpPr/>
          <p:nvPr/>
        </p:nvGrpSpPr>
        <p:grpSpPr>
          <a:xfrm>
            <a:off x="12419512" y="2769089"/>
            <a:ext cx="3984347" cy="3063208"/>
            <a:chOff x="0" y="0"/>
            <a:chExt cx="5312462" cy="4084277"/>
          </a:xfrm>
        </p:grpSpPr>
        <p:grpSp>
          <p:nvGrpSpPr>
            <p:cNvPr id="46" name="Group 46"/>
            <p:cNvGrpSpPr/>
            <p:nvPr/>
          </p:nvGrpSpPr>
          <p:grpSpPr>
            <a:xfrm>
              <a:off x="0" y="625934"/>
              <a:ext cx="5312462" cy="3458344"/>
              <a:chOff x="0" y="0"/>
              <a:chExt cx="1737573" cy="1131138"/>
            </a:xfrm>
          </p:grpSpPr>
          <p:sp>
            <p:nvSpPr>
              <p:cNvPr id="47" name="Freeform 47"/>
              <p:cNvSpPr/>
              <p:nvPr/>
            </p:nvSpPr>
            <p:spPr>
              <a:xfrm>
                <a:off x="0" y="0"/>
                <a:ext cx="1737573" cy="1131138"/>
              </a:xfrm>
              <a:custGeom>
                <a:avLst/>
                <a:gdLst/>
                <a:ahLst/>
                <a:cxnLst/>
                <a:rect l="l" t="t" r="r" b="b"/>
                <a:pathLst>
                  <a:path w="1737573" h="1131138">
                    <a:moveTo>
                      <a:pt x="19431" y="0"/>
                    </a:moveTo>
                    <a:lnTo>
                      <a:pt x="1718142" y="0"/>
                    </a:lnTo>
                    <a:cubicBezTo>
                      <a:pt x="1723296" y="0"/>
                      <a:pt x="1728238" y="2047"/>
                      <a:pt x="1731882" y="5691"/>
                    </a:cubicBezTo>
                    <a:cubicBezTo>
                      <a:pt x="1735526" y="9335"/>
                      <a:pt x="1737573" y="14277"/>
                      <a:pt x="1737573" y="19431"/>
                    </a:cubicBezTo>
                    <a:lnTo>
                      <a:pt x="1737573" y="1111707"/>
                    </a:lnTo>
                    <a:cubicBezTo>
                      <a:pt x="1737573" y="1116860"/>
                      <a:pt x="1735526" y="1121802"/>
                      <a:pt x="1731882" y="1125446"/>
                    </a:cubicBezTo>
                    <a:cubicBezTo>
                      <a:pt x="1728238" y="1129090"/>
                      <a:pt x="1723296" y="1131138"/>
                      <a:pt x="1718142" y="1131138"/>
                    </a:cubicBezTo>
                    <a:lnTo>
                      <a:pt x="19431" y="1131138"/>
                    </a:lnTo>
                    <a:cubicBezTo>
                      <a:pt x="8699" y="1131138"/>
                      <a:pt x="0" y="1122438"/>
                      <a:pt x="0" y="1111707"/>
                    </a:cubicBezTo>
                    <a:lnTo>
                      <a:pt x="0" y="19431"/>
                    </a:lnTo>
                    <a:cubicBezTo>
                      <a:pt x="0" y="14277"/>
                      <a:pt x="2047" y="9335"/>
                      <a:pt x="5691" y="5691"/>
                    </a:cubicBezTo>
                    <a:cubicBezTo>
                      <a:pt x="9335" y="2047"/>
                      <a:pt x="14277" y="0"/>
                      <a:pt x="19431" y="0"/>
                    </a:cubicBezTo>
                    <a:close/>
                  </a:path>
                </a:pathLst>
              </a:custGeom>
              <a:solidFill>
                <a:srgbClr val="D9D9D9">
                  <a:alpha val="69804"/>
                </a:srgbClr>
              </a:solidFill>
            </p:spPr>
            <p:txBody>
              <a:bodyPr/>
              <a:lstStyle/>
              <a:p>
                <a:endParaRPr lang="en-GB"/>
              </a:p>
            </p:txBody>
          </p:sp>
          <p:sp>
            <p:nvSpPr>
              <p:cNvPr id="48" name="TextBox 48"/>
              <p:cNvSpPr txBox="1"/>
              <p:nvPr/>
            </p:nvSpPr>
            <p:spPr>
              <a:xfrm>
                <a:off x="0" y="-38100"/>
                <a:ext cx="1737573" cy="1169238"/>
              </a:xfrm>
              <a:prstGeom prst="rect">
                <a:avLst/>
              </a:prstGeom>
            </p:spPr>
            <p:txBody>
              <a:bodyPr lIns="80497" tIns="80497" rIns="80497" bIns="80497" rtlCol="0" anchor="ctr"/>
              <a:lstStyle/>
              <a:p>
                <a:pPr algn="ctr">
                  <a:lnSpc>
                    <a:spcPts val="3599"/>
                  </a:lnSpc>
                </a:pPr>
                <a:endParaRPr/>
              </a:p>
            </p:txBody>
          </p:sp>
        </p:grpSp>
        <p:grpSp>
          <p:nvGrpSpPr>
            <p:cNvPr id="49" name="Group 49"/>
            <p:cNvGrpSpPr/>
            <p:nvPr/>
          </p:nvGrpSpPr>
          <p:grpSpPr>
            <a:xfrm>
              <a:off x="2030298" y="0"/>
              <a:ext cx="1251867" cy="1251867"/>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BE6"/>
              </a:solidFill>
              <a:ln w="38100" cap="sq">
                <a:solidFill>
                  <a:srgbClr val="292828"/>
                </a:solidFill>
                <a:prstDash val="solid"/>
                <a:miter/>
              </a:ln>
            </p:spPr>
            <p:txBody>
              <a:bodyPr/>
              <a:lstStyle/>
              <a:p>
                <a:endParaRPr lang="en-GB"/>
              </a:p>
            </p:txBody>
          </p:sp>
          <p:sp>
            <p:nvSpPr>
              <p:cNvPr id="51" name="TextBox 51"/>
              <p:cNvSpPr txBox="1"/>
              <p:nvPr/>
            </p:nvSpPr>
            <p:spPr>
              <a:xfrm>
                <a:off x="76200" y="28575"/>
                <a:ext cx="660400" cy="708025"/>
              </a:xfrm>
              <a:prstGeom prst="rect">
                <a:avLst/>
              </a:prstGeom>
            </p:spPr>
            <p:txBody>
              <a:bodyPr lIns="50800" tIns="50800" rIns="50800" bIns="50800" rtlCol="0" anchor="ctr"/>
              <a:lstStyle/>
              <a:p>
                <a:pPr algn="ctr">
                  <a:lnSpc>
                    <a:spcPts val="5399"/>
                  </a:lnSpc>
                </a:pPr>
                <a:endParaRPr/>
              </a:p>
            </p:txBody>
          </p:sp>
        </p:grpSp>
        <p:sp>
          <p:nvSpPr>
            <p:cNvPr id="52" name="TextBox 52"/>
            <p:cNvSpPr txBox="1"/>
            <p:nvPr/>
          </p:nvSpPr>
          <p:spPr>
            <a:xfrm>
              <a:off x="297989" y="1575717"/>
              <a:ext cx="4716485" cy="628650"/>
            </a:xfrm>
            <a:prstGeom prst="rect">
              <a:avLst/>
            </a:prstGeom>
          </p:spPr>
          <p:txBody>
            <a:bodyPr lIns="0" tIns="0" rIns="0" bIns="0" rtlCol="0" anchor="t">
              <a:spAutoFit/>
            </a:bodyPr>
            <a:lstStyle/>
            <a:p>
              <a:pPr algn="ctr">
                <a:lnSpc>
                  <a:spcPts val="3000"/>
                </a:lnSpc>
              </a:pPr>
              <a:r>
                <a:rPr lang="en-US" sz="3000" spc="147">
                  <a:solidFill>
                    <a:srgbClr val="290606"/>
                  </a:solidFill>
                  <a:latin typeface="Cheddar"/>
                  <a:ea typeface="Cheddar"/>
                  <a:cs typeface="Cheddar"/>
                  <a:sym typeface="Cheddar"/>
                </a:rPr>
                <a:t>OFF-PEAK NIGHT</a:t>
              </a:r>
            </a:p>
          </p:txBody>
        </p:sp>
        <p:sp>
          <p:nvSpPr>
            <p:cNvPr id="53" name="TextBox 53"/>
            <p:cNvSpPr txBox="1"/>
            <p:nvPr/>
          </p:nvSpPr>
          <p:spPr>
            <a:xfrm>
              <a:off x="297989" y="2595935"/>
              <a:ext cx="4716485" cy="884628"/>
            </a:xfrm>
            <a:prstGeom prst="rect">
              <a:avLst/>
            </a:prstGeom>
          </p:spPr>
          <p:txBody>
            <a:bodyPr lIns="0" tIns="0" rIns="0" bIns="0" rtlCol="0" anchor="t">
              <a:spAutoFit/>
            </a:bodyPr>
            <a:lstStyle/>
            <a:p>
              <a:pPr marL="518163" lvl="1" indent="-259082" algn="l">
                <a:lnSpc>
                  <a:spcPts val="2400"/>
                </a:lnSpc>
                <a:buFont typeface="Arial"/>
                <a:buChar char="•"/>
              </a:pPr>
              <a:r>
                <a:rPr lang="en-US" sz="2400" b="1" spc="117">
                  <a:solidFill>
                    <a:srgbClr val="290606"/>
                  </a:solidFill>
                  <a:latin typeface="Telegraf 1 Bold"/>
                  <a:ea typeface="Telegraf 1 Bold"/>
                  <a:cs typeface="Telegraf 1 Bold"/>
                  <a:sym typeface="Telegraf 1 Bold"/>
                </a:rPr>
                <a:t>11 PM, Weekday</a:t>
              </a:r>
            </a:p>
            <a:p>
              <a:pPr marL="518163" lvl="1" indent="-259082" algn="l">
                <a:lnSpc>
                  <a:spcPts val="2400"/>
                </a:lnSpc>
                <a:buFont typeface="Arial"/>
                <a:buChar char="•"/>
              </a:pPr>
              <a:r>
                <a:rPr lang="en-US" sz="2400" b="1" spc="117">
                  <a:solidFill>
                    <a:srgbClr val="290606"/>
                  </a:solidFill>
                  <a:latin typeface="Telegraf 1 Bold"/>
                  <a:ea typeface="Telegraf 1 Bold"/>
                  <a:cs typeface="Telegraf 1 Bold"/>
                  <a:sym typeface="Telegraf 1 Bold"/>
                </a:rPr>
                <a:t>Clear Weather</a:t>
              </a:r>
            </a:p>
          </p:txBody>
        </p:sp>
      </p:grpSp>
      <p:grpSp>
        <p:nvGrpSpPr>
          <p:cNvPr id="54" name="Group 54"/>
          <p:cNvGrpSpPr/>
          <p:nvPr/>
        </p:nvGrpSpPr>
        <p:grpSpPr>
          <a:xfrm>
            <a:off x="12419512" y="8277189"/>
            <a:ext cx="3984347" cy="1113976"/>
            <a:chOff x="0" y="0"/>
            <a:chExt cx="5312462" cy="1485301"/>
          </a:xfrm>
        </p:grpSpPr>
        <p:grpSp>
          <p:nvGrpSpPr>
            <p:cNvPr id="55" name="Group 55"/>
            <p:cNvGrpSpPr/>
            <p:nvPr/>
          </p:nvGrpSpPr>
          <p:grpSpPr>
            <a:xfrm>
              <a:off x="0" y="0"/>
              <a:ext cx="5312462" cy="1485301"/>
              <a:chOff x="0" y="0"/>
              <a:chExt cx="1737573" cy="485805"/>
            </a:xfrm>
          </p:grpSpPr>
          <p:sp>
            <p:nvSpPr>
              <p:cNvPr id="56" name="Freeform 56"/>
              <p:cNvSpPr/>
              <p:nvPr/>
            </p:nvSpPr>
            <p:spPr>
              <a:xfrm>
                <a:off x="0" y="0"/>
                <a:ext cx="1737573" cy="485805"/>
              </a:xfrm>
              <a:custGeom>
                <a:avLst/>
                <a:gdLst/>
                <a:ahLst/>
                <a:cxnLst/>
                <a:rect l="l" t="t" r="r" b="b"/>
                <a:pathLst>
                  <a:path w="1737573" h="485805">
                    <a:moveTo>
                      <a:pt x="19431" y="0"/>
                    </a:moveTo>
                    <a:lnTo>
                      <a:pt x="1718142" y="0"/>
                    </a:lnTo>
                    <a:cubicBezTo>
                      <a:pt x="1723296" y="0"/>
                      <a:pt x="1728238" y="2047"/>
                      <a:pt x="1731882" y="5691"/>
                    </a:cubicBezTo>
                    <a:cubicBezTo>
                      <a:pt x="1735526" y="9335"/>
                      <a:pt x="1737573" y="14277"/>
                      <a:pt x="1737573" y="19431"/>
                    </a:cubicBezTo>
                    <a:lnTo>
                      <a:pt x="1737573" y="466374"/>
                    </a:lnTo>
                    <a:cubicBezTo>
                      <a:pt x="1737573" y="471527"/>
                      <a:pt x="1735526" y="476470"/>
                      <a:pt x="1731882" y="480114"/>
                    </a:cubicBezTo>
                    <a:cubicBezTo>
                      <a:pt x="1728238" y="483758"/>
                      <a:pt x="1723296" y="485805"/>
                      <a:pt x="1718142" y="485805"/>
                    </a:cubicBezTo>
                    <a:lnTo>
                      <a:pt x="19431" y="485805"/>
                    </a:lnTo>
                    <a:cubicBezTo>
                      <a:pt x="8699" y="485805"/>
                      <a:pt x="0" y="477105"/>
                      <a:pt x="0" y="466374"/>
                    </a:cubicBezTo>
                    <a:lnTo>
                      <a:pt x="0" y="19431"/>
                    </a:lnTo>
                    <a:cubicBezTo>
                      <a:pt x="0" y="14277"/>
                      <a:pt x="2047" y="9335"/>
                      <a:pt x="5691" y="5691"/>
                    </a:cubicBezTo>
                    <a:cubicBezTo>
                      <a:pt x="9335" y="2047"/>
                      <a:pt x="14277" y="0"/>
                      <a:pt x="19431" y="0"/>
                    </a:cubicBezTo>
                    <a:close/>
                  </a:path>
                </a:pathLst>
              </a:custGeom>
              <a:solidFill>
                <a:srgbClr val="FECA19">
                  <a:alpha val="69804"/>
                </a:srgbClr>
              </a:solidFill>
            </p:spPr>
            <p:txBody>
              <a:bodyPr/>
              <a:lstStyle/>
              <a:p>
                <a:endParaRPr lang="en-GB"/>
              </a:p>
            </p:txBody>
          </p:sp>
          <p:sp>
            <p:nvSpPr>
              <p:cNvPr id="57" name="TextBox 57"/>
              <p:cNvSpPr txBox="1"/>
              <p:nvPr/>
            </p:nvSpPr>
            <p:spPr>
              <a:xfrm>
                <a:off x="0" y="-38100"/>
                <a:ext cx="1737573" cy="523905"/>
              </a:xfrm>
              <a:prstGeom prst="rect">
                <a:avLst/>
              </a:prstGeom>
            </p:spPr>
            <p:txBody>
              <a:bodyPr lIns="80497" tIns="80497" rIns="80497" bIns="80497" rtlCol="0" anchor="ctr"/>
              <a:lstStyle/>
              <a:p>
                <a:pPr algn="ctr">
                  <a:lnSpc>
                    <a:spcPts val="3599"/>
                  </a:lnSpc>
                </a:pPr>
                <a:endParaRPr/>
              </a:p>
            </p:txBody>
          </p:sp>
        </p:grpSp>
        <p:sp>
          <p:nvSpPr>
            <p:cNvPr id="58" name="TextBox 58"/>
            <p:cNvSpPr txBox="1"/>
            <p:nvPr/>
          </p:nvSpPr>
          <p:spPr>
            <a:xfrm>
              <a:off x="297989" y="284747"/>
              <a:ext cx="4716485" cy="884628"/>
            </a:xfrm>
            <a:prstGeom prst="rect">
              <a:avLst/>
            </a:prstGeom>
          </p:spPr>
          <p:txBody>
            <a:bodyPr lIns="0" tIns="0" rIns="0" bIns="0" rtlCol="0" anchor="t">
              <a:spAutoFit/>
            </a:bodyPr>
            <a:lstStyle/>
            <a:p>
              <a:pPr algn="ctr">
                <a:lnSpc>
                  <a:spcPts val="2400"/>
                </a:lnSpc>
              </a:pPr>
              <a:r>
                <a:rPr lang="en-US" sz="2400" b="1" spc="117">
                  <a:solidFill>
                    <a:srgbClr val="290606"/>
                  </a:solidFill>
                  <a:latin typeface="Telegraf 1 Bold"/>
                  <a:ea typeface="Telegraf 1 Bold"/>
                  <a:cs typeface="Telegraf 1 Bold"/>
                  <a:sym typeface="Telegraf 1 Bold"/>
                </a:rPr>
                <a:t>Dynamic Reversion</a:t>
              </a:r>
            </a:p>
            <a:p>
              <a:pPr algn="ctr">
                <a:lnSpc>
                  <a:spcPts val="2400"/>
                </a:lnSpc>
              </a:pPr>
              <a:r>
                <a:rPr lang="en-US" sz="2400" b="1" spc="117">
                  <a:solidFill>
                    <a:srgbClr val="290606"/>
                  </a:solidFill>
                  <a:latin typeface="Telegraf 1 Bold"/>
                  <a:ea typeface="Telegraf 1 Bold"/>
                  <a:cs typeface="Telegraf 1 Bold"/>
                  <a:sym typeface="Telegraf 1 Bold"/>
                </a:rPr>
                <a:t>(Baseline)</a:t>
              </a:r>
            </a:p>
          </p:txBody>
        </p:sp>
      </p:grpSp>
      <p:grpSp>
        <p:nvGrpSpPr>
          <p:cNvPr id="59" name="Group 59"/>
          <p:cNvGrpSpPr/>
          <p:nvPr/>
        </p:nvGrpSpPr>
        <p:grpSpPr>
          <a:xfrm>
            <a:off x="12419512" y="6497755"/>
            <a:ext cx="3984347" cy="1113976"/>
            <a:chOff x="0" y="0"/>
            <a:chExt cx="5312462" cy="1485301"/>
          </a:xfrm>
        </p:grpSpPr>
        <p:grpSp>
          <p:nvGrpSpPr>
            <p:cNvPr id="60" name="Group 60"/>
            <p:cNvGrpSpPr/>
            <p:nvPr/>
          </p:nvGrpSpPr>
          <p:grpSpPr>
            <a:xfrm>
              <a:off x="0" y="0"/>
              <a:ext cx="5312462" cy="1485301"/>
              <a:chOff x="0" y="0"/>
              <a:chExt cx="1737573" cy="485805"/>
            </a:xfrm>
          </p:grpSpPr>
          <p:sp>
            <p:nvSpPr>
              <p:cNvPr id="61" name="Freeform 61"/>
              <p:cNvSpPr/>
              <p:nvPr/>
            </p:nvSpPr>
            <p:spPr>
              <a:xfrm>
                <a:off x="0" y="0"/>
                <a:ext cx="1737573" cy="485805"/>
              </a:xfrm>
              <a:custGeom>
                <a:avLst/>
                <a:gdLst/>
                <a:ahLst/>
                <a:cxnLst/>
                <a:rect l="l" t="t" r="r" b="b"/>
                <a:pathLst>
                  <a:path w="1737573" h="485805">
                    <a:moveTo>
                      <a:pt x="19431" y="0"/>
                    </a:moveTo>
                    <a:lnTo>
                      <a:pt x="1718142" y="0"/>
                    </a:lnTo>
                    <a:cubicBezTo>
                      <a:pt x="1723296" y="0"/>
                      <a:pt x="1728238" y="2047"/>
                      <a:pt x="1731882" y="5691"/>
                    </a:cubicBezTo>
                    <a:cubicBezTo>
                      <a:pt x="1735526" y="9335"/>
                      <a:pt x="1737573" y="14277"/>
                      <a:pt x="1737573" y="19431"/>
                    </a:cubicBezTo>
                    <a:lnTo>
                      <a:pt x="1737573" y="466374"/>
                    </a:lnTo>
                    <a:cubicBezTo>
                      <a:pt x="1737573" y="471527"/>
                      <a:pt x="1735526" y="476470"/>
                      <a:pt x="1731882" y="480114"/>
                    </a:cubicBezTo>
                    <a:cubicBezTo>
                      <a:pt x="1728238" y="483758"/>
                      <a:pt x="1723296" y="485805"/>
                      <a:pt x="1718142" y="485805"/>
                    </a:cubicBezTo>
                    <a:lnTo>
                      <a:pt x="19431" y="485805"/>
                    </a:lnTo>
                    <a:cubicBezTo>
                      <a:pt x="8699" y="485805"/>
                      <a:pt x="0" y="477105"/>
                      <a:pt x="0" y="466374"/>
                    </a:cubicBezTo>
                    <a:lnTo>
                      <a:pt x="0" y="19431"/>
                    </a:lnTo>
                    <a:cubicBezTo>
                      <a:pt x="0" y="14277"/>
                      <a:pt x="2047" y="9335"/>
                      <a:pt x="5691" y="5691"/>
                    </a:cubicBezTo>
                    <a:cubicBezTo>
                      <a:pt x="9335" y="2047"/>
                      <a:pt x="14277" y="0"/>
                      <a:pt x="19431" y="0"/>
                    </a:cubicBezTo>
                    <a:close/>
                  </a:path>
                </a:pathLst>
              </a:custGeom>
              <a:solidFill>
                <a:srgbClr val="D9F4CD">
                  <a:alpha val="69804"/>
                </a:srgbClr>
              </a:solidFill>
            </p:spPr>
            <p:txBody>
              <a:bodyPr/>
              <a:lstStyle/>
              <a:p>
                <a:endParaRPr lang="en-GB"/>
              </a:p>
            </p:txBody>
          </p:sp>
          <p:sp>
            <p:nvSpPr>
              <p:cNvPr id="62" name="TextBox 62"/>
              <p:cNvSpPr txBox="1"/>
              <p:nvPr/>
            </p:nvSpPr>
            <p:spPr>
              <a:xfrm>
                <a:off x="0" y="-38100"/>
                <a:ext cx="1737573" cy="523905"/>
              </a:xfrm>
              <a:prstGeom prst="rect">
                <a:avLst/>
              </a:prstGeom>
            </p:spPr>
            <p:txBody>
              <a:bodyPr lIns="80497" tIns="80497" rIns="80497" bIns="80497" rtlCol="0" anchor="ctr"/>
              <a:lstStyle/>
              <a:p>
                <a:pPr algn="ctr">
                  <a:lnSpc>
                    <a:spcPts val="3599"/>
                  </a:lnSpc>
                </a:pPr>
                <a:endParaRPr/>
              </a:p>
            </p:txBody>
          </p:sp>
        </p:grpSp>
        <p:sp>
          <p:nvSpPr>
            <p:cNvPr id="63" name="TextBox 63"/>
            <p:cNvSpPr txBox="1"/>
            <p:nvPr/>
          </p:nvSpPr>
          <p:spPr>
            <a:xfrm>
              <a:off x="297989" y="284747"/>
              <a:ext cx="4716485" cy="884628"/>
            </a:xfrm>
            <a:prstGeom prst="rect">
              <a:avLst/>
            </a:prstGeom>
          </p:spPr>
          <p:txBody>
            <a:bodyPr lIns="0" tIns="0" rIns="0" bIns="0" rtlCol="0" anchor="t">
              <a:spAutoFit/>
            </a:bodyPr>
            <a:lstStyle/>
            <a:p>
              <a:pPr algn="ctr">
                <a:lnSpc>
                  <a:spcPts val="2400"/>
                </a:lnSpc>
              </a:pPr>
              <a:r>
                <a:rPr lang="en-US" sz="2400" b="1" spc="117">
                  <a:solidFill>
                    <a:srgbClr val="290606"/>
                  </a:solidFill>
                  <a:latin typeface="Telegraf 1 Bold"/>
                  <a:ea typeface="Telegraf 1 Bold"/>
                  <a:cs typeface="Telegraf 1 Bold"/>
                  <a:sym typeface="Telegraf 1 Bold"/>
                </a:rPr>
                <a:t>Predicted Traffic:</a:t>
              </a:r>
            </a:p>
            <a:p>
              <a:pPr algn="ctr">
                <a:lnSpc>
                  <a:spcPts val="2400"/>
                </a:lnSpc>
              </a:pPr>
              <a:r>
                <a:rPr lang="en-US" sz="2400" b="1" spc="117">
                  <a:solidFill>
                    <a:srgbClr val="290606"/>
                  </a:solidFill>
                  <a:latin typeface="Telegraf 1 Bold"/>
                  <a:ea typeface="Telegraf 1 Bold"/>
                  <a:cs typeface="Telegraf 1 Bold"/>
                  <a:sym typeface="Telegraf 1 Bold"/>
                </a:rPr>
                <a:t>840 cars</a:t>
              </a:r>
            </a:p>
          </p:txBody>
        </p:sp>
      </p:grpSp>
      <p:sp>
        <p:nvSpPr>
          <p:cNvPr id="64" name="AutoShape 64"/>
          <p:cNvSpPr/>
          <p:nvPr/>
        </p:nvSpPr>
        <p:spPr>
          <a:xfrm>
            <a:off x="14411686" y="5832297"/>
            <a:ext cx="0" cy="665458"/>
          </a:xfrm>
          <a:prstGeom prst="line">
            <a:avLst/>
          </a:prstGeom>
          <a:ln w="38100" cap="flat">
            <a:solidFill>
              <a:srgbClr val="000000"/>
            </a:solidFill>
            <a:prstDash val="solid"/>
            <a:headEnd type="none" w="sm" len="sm"/>
            <a:tailEnd type="triangle" w="lg" len="med"/>
          </a:ln>
        </p:spPr>
        <p:txBody>
          <a:bodyPr/>
          <a:lstStyle/>
          <a:p>
            <a:endParaRPr lang="en-GB"/>
          </a:p>
        </p:txBody>
      </p:sp>
      <p:sp>
        <p:nvSpPr>
          <p:cNvPr id="65" name="AutoShape 65"/>
          <p:cNvSpPr/>
          <p:nvPr/>
        </p:nvSpPr>
        <p:spPr>
          <a:xfrm>
            <a:off x="14411686" y="7611731"/>
            <a:ext cx="0" cy="665458"/>
          </a:xfrm>
          <a:prstGeom prst="line">
            <a:avLst/>
          </a:prstGeom>
          <a:ln w="38100" cap="flat">
            <a:solidFill>
              <a:srgbClr val="000000"/>
            </a:solidFill>
            <a:prstDash val="solid"/>
            <a:headEnd type="none" w="sm" len="sm"/>
            <a:tailEnd type="triangle" w="lg" len="med"/>
          </a:ln>
        </p:spPr>
        <p:txBody>
          <a:bodyPr/>
          <a:lstStyle/>
          <a:p>
            <a:endParaRPr lang="en-GB"/>
          </a:p>
        </p:txBody>
      </p:sp>
      <p:sp>
        <p:nvSpPr>
          <p:cNvPr id="66" name="Freeform 66"/>
          <p:cNvSpPr/>
          <p:nvPr/>
        </p:nvSpPr>
        <p:spPr>
          <a:xfrm>
            <a:off x="14076345" y="2932375"/>
            <a:ext cx="670681" cy="612149"/>
          </a:xfrm>
          <a:custGeom>
            <a:avLst/>
            <a:gdLst/>
            <a:ahLst/>
            <a:cxnLst/>
            <a:rect l="l" t="t" r="r" b="b"/>
            <a:pathLst>
              <a:path w="670681" h="612149">
                <a:moveTo>
                  <a:pt x="0" y="0"/>
                </a:moveTo>
                <a:lnTo>
                  <a:pt x="670681" y="0"/>
                </a:lnTo>
                <a:lnTo>
                  <a:pt x="670681" y="612149"/>
                </a:lnTo>
                <a:lnTo>
                  <a:pt x="0" y="61214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7" name="Freeform 67"/>
          <p:cNvSpPr/>
          <p:nvPr/>
        </p:nvSpPr>
        <p:spPr>
          <a:xfrm>
            <a:off x="3543053" y="2905188"/>
            <a:ext cx="666523" cy="666523"/>
          </a:xfrm>
          <a:custGeom>
            <a:avLst/>
            <a:gdLst/>
            <a:ahLst/>
            <a:cxnLst/>
            <a:rect l="l" t="t" r="r" b="b"/>
            <a:pathLst>
              <a:path w="666523" h="666523">
                <a:moveTo>
                  <a:pt x="0" y="0"/>
                </a:moveTo>
                <a:lnTo>
                  <a:pt x="666523" y="0"/>
                </a:lnTo>
                <a:lnTo>
                  <a:pt x="666523" y="666522"/>
                </a:lnTo>
                <a:lnTo>
                  <a:pt x="0" y="66652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8" name="TextBox 68"/>
          <p:cNvSpPr txBox="1"/>
          <p:nvPr/>
        </p:nvSpPr>
        <p:spPr>
          <a:xfrm>
            <a:off x="1028700" y="1019175"/>
            <a:ext cx="8115300" cy="1073123"/>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CASE STUDY EXAMPLES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388625" y="5221973"/>
            <a:ext cx="19065250" cy="4036327"/>
            <a:chOff x="0" y="0"/>
            <a:chExt cx="5021300" cy="1063065"/>
          </a:xfrm>
        </p:grpSpPr>
        <p:sp>
          <p:nvSpPr>
            <p:cNvPr id="3" name="Freeform 3"/>
            <p:cNvSpPr/>
            <p:nvPr/>
          </p:nvSpPr>
          <p:spPr>
            <a:xfrm>
              <a:off x="0" y="0"/>
              <a:ext cx="5021300" cy="1063065"/>
            </a:xfrm>
            <a:custGeom>
              <a:avLst/>
              <a:gdLst/>
              <a:ahLst/>
              <a:cxnLst/>
              <a:rect l="l" t="t" r="r" b="b"/>
              <a:pathLst>
                <a:path w="5021300" h="1063065">
                  <a:moveTo>
                    <a:pt x="8121" y="0"/>
                  </a:moveTo>
                  <a:lnTo>
                    <a:pt x="5013179" y="0"/>
                  </a:lnTo>
                  <a:cubicBezTo>
                    <a:pt x="5015333" y="0"/>
                    <a:pt x="5017399" y="856"/>
                    <a:pt x="5018922" y="2379"/>
                  </a:cubicBezTo>
                  <a:cubicBezTo>
                    <a:pt x="5020445" y="3902"/>
                    <a:pt x="5021300" y="5968"/>
                    <a:pt x="5021300" y="8121"/>
                  </a:cubicBezTo>
                  <a:lnTo>
                    <a:pt x="5021300" y="1054944"/>
                  </a:lnTo>
                  <a:cubicBezTo>
                    <a:pt x="5021300" y="1057098"/>
                    <a:pt x="5020445" y="1059164"/>
                    <a:pt x="5018922" y="1060687"/>
                  </a:cubicBezTo>
                  <a:cubicBezTo>
                    <a:pt x="5017399" y="1062210"/>
                    <a:pt x="5015333" y="1063065"/>
                    <a:pt x="5013179" y="1063065"/>
                  </a:cubicBezTo>
                  <a:lnTo>
                    <a:pt x="8121" y="1063065"/>
                  </a:lnTo>
                  <a:cubicBezTo>
                    <a:pt x="5968" y="1063065"/>
                    <a:pt x="3902" y="1062210"/>
                    <a:pt x="2379" y="1060687"/>
                  </a:cubicBezTo>
                  <a:cubicBezTo>
                    <a:pt x="856" y="1059164"/>
                    <a:pt x="0" y="1057098"/>
                    <a:pt x="0" y="1054944"/>
                  </a:cubicBezTo>
                  <a:lnTo>
                    <a:pt x="0" y="8121"/>
                  </a:lnTo>
                  <a:cubicBezTo>
                    <a:pt x="0" y="5968"/>
                    <a:pt x="856" y="3902"/>
                    <a:pt x="2379" y="2379"/>
                  </a:cubicBezTo>
                  <a:cubicBezTo>
                    <a:pt x="3902" y="856"/>
                    <a:pt x="5968" y="0"/>
                    <a:pt x="8121" y="0"/>
                  </a:cubicBezTo>
                  <a:close/>
                </a:path>
              </a:pathLst>
            </a:custGeom>
            <a:solidFill>
              <a:srgbClr val="02B676">
                <a:alpha val="14902"/>
              </a:srgbClr>
            </a:solidFill>
          </p:spPr>
          <p:txBody>
            <a:bodyPr/>
            <a:lstStyle/>
            <a:p>
              <a:endParaRPr lang="en-GB"/>
            </a:p>
          </p:txBody>
        </p:sp>
        <p:sp>
          <p:nvSpPr>
            <p:cNvPr id="4" name="TextBox 4"/>
            <p:cNvSpPr txBox="1"/>
            <p:nvPr/>
          </p:nvSpPr>
          <p:spPr>
            <a:xfrm>
              <a:off x="0" y="-9525"/>
              <a:ext cx="5021300" cy="1072590"/>
            </a:xfrm>
            <a:prstGeom prst="rect">
              <a:avLst/>
            </a:prstGeom>
          </p:spPr>
          <p:txBody>
            <a:bodyPr lIns="50800" tIns="50800" rIns="50800" bIns="50800" rtlCol="0" anchor="ctr"/>
            <a:lstStyle/>
            <a:p>
              <a:pPr algn="ctr">
                <a:lnSpc>
                  <a:spcPts val="2266"/>
                </a:lnSpc>
              </a:pPr>
              <a:endParaRPr/>
            </a:p>
            <a:p>
              <a:pPr algn="ctr">
                <a:lnSpc>
                  <a:spcPts val="2266"/>
                </a:lnSpc>
              </a:pPr>
              <a:endParaRPr/>
            </a:p>
          </p:txBody>
        </p:sp>
      </p:grpSp>
      <p:sp>
        <p:nvSpPr>
          <p:cNvPr id="5" name="TextBox 5"/>
          <p:cNvSpPr txBox="1"/>
          <p:nvPr/>
        </p:nvSpPr>
        <p:spPr>
          <a:xfrm>
            <a:off x="1028700" y="1019175"/>
            <a:ext cx="8115300" cy="1958921"/>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RESPONSE AND REFLECTION</a:t>
            </a:r>
          </a:p>
        </p:txBody>
      </p:sp>
      <p:grpSp>
        <p:nvGrpSpPr>
          <p:cNvPr id="6" name="Group 6"/>
          <p:cNvGrpSpPr/>
          <p:nvPr/>
        </p:nvGrpSpPr>
        <p:grpSpPr>
          <a:xfrm>
            <a:off x="3373604" y="4146774"/>
            <a:ext cx="1306762" cy="1306762"/>
            <a:chOff x="0" y="0"/>
            <a:chExt cx="812800" cy="812800"/>
          </a:xfrm>
        </p:grpSpPr>
        <p:sp>
          <p:nvSpPr>
            <p:cNvPr id="7" name="Freeform 7"/>
            <p:cNvSpPr/>
            <p:nvPr/>
          </p:nvSpPr>
          <p:spPr>
            <a:xfrm>
              <a:off x="0" y="0"/>
              <a:ext cx="812800" cy="812800"/>
            </a:xfrm>
            <a:custGeom>
              <a:avLst/>
              <a:gdLst/>
              <a:ahLst/>
              <a:cxnLst/>
              <a:rect l="l" t="t" r="r" b="b"/>
              <a:pathLst>
                <a:path w="812800" h="812800">
                  <a:moveTo>
                    <a:pt x="112566" y="0"/>
                  </a:moveTo>
                  <a:lnTo>
                    <a:pt x="700234" y="0"/>
                  </a:lnTo>
                  <a:cubicBezTo>
                    <a:pt x="762403" y="0"/>
                    <a:pt x="812800" y="50397"/>
                    <a:pt x="812800" y="112566"/>
                  </a:cubicBezTo>
                  <a:lnTo>
                    <a:pt x="812800" y="700234"/>
                  </a:lnTo>
                  <a:cubicBezTo>
                    <a:pt x="812800" y="762403"/>
                    <a:pt x="762403" y="812800"/>
                    <a:pt x="700234" y="812800"/>
                  </a:cubicBezTo>
                  <a:lnTo>
                    <a:pt x="112566" y="812800"/>
                  </a:lnTo>
                  <a:cubicBezTo>
                    <a:pt x="50397" y="812800"/>
                    <a:pt x="0" y="762403"/>
                    <a:pt x="0" y="700234"/>
                  </a:cubicBezTo>
                  <a:lnTo>
                    <a:pt x="0" y="112566"/>
                  </a:lnTo>
                  <a:cubicBezTo>
                    <a:pt x="0" y="50397"/>
                    <a:pt x="50397" y="0"/>
                    <a:pt x="112566" y="0"/>
                  </a:cubicBezTo>
                  <a:close/>
                </a:path>
              </a:pathLst>
            </a:custGeom>
            <a:solidFill>
              <a:srgbClr val="02B676"/>
            </a:solidFill>
          </p:spPr>
          <p:txBody>
            <a:bodyPr/>
            <a:lstStyle/>
            <a:p>
              <a:endParaRPr lang="en-GB"/>
            </a:p>
          </p:txBody>
        </p:sp>
        <p:sp>
          <p:nvSpPr>
            <p:cNvPr id="8" name="TextBox 8"/>
            <p:cNvSpPr txBox="1"/>
            <p:nvPr/>
          </p:nvSpPr>
          <p:spPr>
            <a:xfrm>
              <a:off x="0" y="-28575"/>
              <a:ext cx="812800" cy="841375"/>
            </a:xfrm>
            <a:prstGeom prst="rect">
              <a:avLst/>
            </a:prstGeom>
          </p:spPr>
          <p:txBody>
            <a:bodyPr lIns="50800" tIns="50800" rIns="50800" bIns="50800" rtlCol="0" anchor="ctr"/>
            <a:lstStyle/>
            <a:p>
              <a:pPr algn="ctr">
                <a:lnSpc>
                  <a:spcPts val="5150"/>
                </a:lnSpc>
              </a:pPr>
              <a:r>
                <a:rPr lang="en-US" sz="5000" spc="355">
                  <a:solidFill>
                    <a:srgbClr val="FDF8F8"/>
                  </a:solidFill>
                  <a:latin typeface="Cheddar"/>
                  <a:ea typeface="Cheddar"/>
                  <a:cs typeface="Cheddar"/>
                  <a:sym typeface="Cheddar"/>
                </a:rPr>
                <a:t>01</a:t>
              </a:r>
            </a:p>
          </p:txBody>
        </p:sp>
      </p:grpSp>
      <p:grpSp>
        <p:nvGrpSpPr>
          <p:cNvPr id="9" name="Group 9"/>
          <p:cNvGrpSpPr/>
          <p:nvPr/>
        </p:nvGrpSpPr>
        <p:grpSpPr>
          <a:xfrm>
            <a:off x="8554444" y="4146774"/>
            <a:ext cx="1306762" cy="1306762"/>
            <a:chOff x="0" y="0"/>
            <a:chExt cx="812800" cy="812800"/>
          </a:xfrm>
        </p:grpSpPr>
        <p:sp>
          <p:nvSpPr>
            <p:cNvPr id="10" name="Freeform 10"/>
            <p:cNvSpPr/>
            <p:nvPr/>
          </p:nvSpPr>
          <p:spPr>
            <a:xfrm>
              <a:off x="0" y="0"/>
              <a:ext cx="812800" cy="812800"/>
            </a:xfrm>
            <a:custGeom>
              <a:avLst/>
              <a:gdLst/>
              <a:ahLst/>
              <a:cxnLst/>
              <a:rect l="l" t="t" r="r" b="b"/>
              <a:pathLst>
                <a:path w="812800" h="812800">
                  <a:moveTo>
                    <a:pt x="112566" y="0"/>
                  </a:moveTo>
                  <a:lnTo>
                    <a:pt x="700234" y="0"/>
                  </a:lnTo>
                  <a:cubicBezTo>
                    <a:pt x="762403" y="0"/>
                    <a:pt x="812800" y="50397"/>
                    <a:pt x="812800" y="112566"/>
                  </a:cubicBezTo>
                  <a:lnTo>
                    <a:pt x="812800" y="700234"/>
                  </a:lnTo>
                  <a:cubicBezTo>
                    <a:pt x="812800" y="762403"/>
                    <a:pt x="762403" y="812800"/>
                    <a:pt x="700234" y="812800"/>
                  </a:cubicBezTo>
                  <a:lnTo>
                    <a:pt x="112566" y="812800"/>
                  </a:lnTo>
                  <a:cubicBezTo>
                    <a:pt x="50397" y="812800"/>
                    <a:pt x="0" y="762403"/>
                    <a:pt x="0" y="700234"/>
                  </a:cubicBezTo>
                  <a:lnTo>
                    <a:pt x="0" y="112566"/>
                  </a:lnTo>
                  <a:cubicBezTo>
                    <a:pt x="0" y="50397"/>
                    <a:pt x="50397" y="0"/>
                    <a:pt x="112566" y="0"/>
                  </a:cubicBezTo>
                  <a:close/>
                </a:path>
              </a:pathLst>
            </a:custGeom>
            <a:solidFill>
              <a:srgbClr val="02B676"/>
            </a:solidFill>
          </p:spPr>
          <p:txBody>
            <a:bodyPr/>
            <a:lstStyle/>
            <a:p>
              <a:endParaRPr lang="en-GB"/>
            </a:p>
          </p:txBody>
        </p:sp>
        <p:sp>
          <p:nvSpPr>
            <p:cNvPr id="11" name="TextBox 11"/>
            <p:cNvSpPr txBox="1"/>
            <p:nvPr/>
          </p:nvSpPr>
          <p:spPr>
            <a:xfrm>
              <a:off x="0" y="-28575"/>
              <a:ext cx="812800" cy="841375"/>
            </a:xfrm>
            <a:prstGeom prst="rect">
              <a:avLst/>
            </a:prstGeom>
          </p:spPr>
          <p:txBody>
            <a:bodyPr lIns="50800" tIns="50800" rIns="50800" bIns="50800" rtlCol="0" anchor="ctr"/>
            <a:lstStyle/>
            <a:p>
              <a:pPr algn="ctr">
                <a:lnSpc>
                  <a:spcPts val="5150"/>
                </a:lnSpc>
              </a:pPr>
              <a:r>
                <a:rPr lang="en-US" sz="5000" spc="355">
                  <a:solidFill>
                    <a:srgbClr val="FDF8F8"/>
                  </a:solidFill>
                  <a:latin typeface="Cheddar"/>
                  <a:ea typeface="Cheddar"/>
                  <a:cs typeface="Cheddar"/>
                  <a:sym typeface="Cheddar"/>
                </a:rPr>
                <a:t>02</a:t>
              </a:r>
            </a:p>
          </p:txBody>
        </p:sp>
      </p:grpSp>
      <p:grpSp>
        <p:nvGrpSpPr>
          <p:cNvPr id="12" name="Group 12"/>
          <p:cNvGrpSpPr/>
          <p:nvPr/>
        </p:nvGrpSpPr>
        <p:grpSpPr>
          <a:xfrm>
            <a:off x="13734957" y="4146774"/>
            <a:ext cx="1306762" cy="1306762"/>
            <a:chOff x="0" y="0"/>
            <a:chExt cx="812800" cy="812800"/>
          </a:xfrm>
        </p:grpSpPr>
        <p:sp>
          <p:nvSpPr>
            <p:cNvPr id="13" name="Freeform 13"/>
            <p:cNvSpPr/>
            <p:nvPr/>
          </p:nvSpPr>
          <p:spPr>
            <a:xfrm>
              <a:off x="0" y="0"/>
              <a:ext cx="812800" cy="812800"/>
            </a:xfrm>
            <a:custGeom>
              <a:avLst/>
              <a:gdLst/>
              <a:ahLst/>
              <a:cxnLst/>
              <a:rect l="l" t="t" r="r" b="b"/>
              <a:pathLst>
                <a:path w="812800" h="812800">
                  <a:moveTo>
                    <a:pt x="112566" y="0"/>
                  </a:moveTo>
                  <a:lnTo>
                    <a:pt x="700234" y="0"/>
                  </a:lnTo>
                  <a:cubicBezTo>
                    <a:pt x="762403" y="0"/>
                    <a:pt x="812800" y="50397"/>
                    <a:pt x="812800" y="112566"/>
                  </a:cubicBezTo>
                  <a:lnTo>
                    <a:pt x="812800" y="700234"/>
                  </a:lnTo>
                  <a:cubicBezTo>
                    <a:pt x="812800" y="762403"/>
                    <a:pt x="762403" y="812800"/>
                    <a:pt x="700234" y="812800"/>
                  </a:cubicBezTo>
                  <a:lnTo>
                    <a:pt x="112566" y="812800"/>
                  </a:lnTo>
                  <a:cubicBezTo>
                    <a:pt x="50397" y="812800"/>
                    <a:pt x="0" y="762403"/>
                    <a:pt x="0" y="700234"/>
                  </a:cubicBezTo>
                  <a:lnTo>
                    <a:pt x="0" y="112566"/>
                  </a:lnTo>
                  <a:cubicBezTo>
                    <a:pt x="0" y="50397"/>
                    <a:pt x="50397" y="0"/>
                    <a:pt x="112566" y="0"/>
                  </a:cubicBezTo>
                  <a:close/>
                </a:path>
              </a:pathLst>
            </a:custGeom>
            <a:solidFill>
              <a:srgbClr val="02B676"/>
            </a:solidFill>
          </p:spPr>
          <p:txBody>
            <a:bodyPr/>
            <a:lstStyle/>
            <a:p>
              <a:endParaRPr lang="en-GB"/>
            </a:p>
          </p:txBody>
        </p:sp>
        <p:sp>
          <p:nvSpPr>
            <p:cNvPr id="14" name="TextBox 14"/>
            <p:cNvSpPr txBox="1"/>
            <p:nvPr/>
          </p:nvSpPr>
          <p:spPr>
            <a:xfrm>
              <a:off x="0" y="-28575"/>
              <a:ext cx="812800" cy="841375"/>
            </a:xfrm>
            <a:prstGeom prst="rect">
              <a:avLst/>
            </a:prstGeom>
          </p:spPr>
          <p:txBody>
            <a:bodyPr lIns="50800" tIns="50800" rIns="50800" bIns="50800" rtlCol="0" anchor="ctr"/>
            <a:lstStyle/>
            <a:p>
              <a:pPr algn="ctr">
                <a:lnSpc>
                  <a:spcPts val="5150"/>
                </a:lnSpc>
              </a:pPr>
              <a:r>
                <a:rPr lang="en-US" sz="5000" spc="355">
                  <a:solidFill>
                    <a:srgbClr val="FDF8F8"/>
                  </a:solidFill>
                  <a:latin typeface="Cheddar"/>
                  <a:ea typeface="Cheddar"/>
                  <a:cs typeface="Cheddar"/>
                  <a:sym typeface="Cheddar"/>
                </a:rPr>
                <a:t>03</a:t>
              </a:r>
            </a:p>
          </p:txBody>
        </p:sp>
      </p:grpSp>
      <p:sp>
        <p:nvSpPr>
          <p:cNvPr id="15" name="TextBox 15"/>
          <p:cNvSpPr txBox="1"/>
          <p:nvPr/>
        </p:nvSpPr>
        <p:spPr>
          <a:xfrm>
            <a:off x="1903766" y="6050755"/>
            <a:ext cx="4458749" cy="3133198"/>
          </a:xfrm>
          <a:prstGeom prst="rect">
            <a:avLst/>
          </a:prstGeom>
        </p:spPr>
        <p:txBody>
          <a:bodyPr lIns="0" tIns="0" rIns="0" bIns="0" rtlCol="0" anchor="t">
            <a:spAutoFit/>
          </a:bodyPr>
          <a:lstStyle/>
          <a:p>
            <a:pPr algn="ctr">
              <a:lnSpc>
                <a:spcPts val="3080"/>
              </a:lnSpc>
            </a:pPr>
            <a:r>
              <a:rPr lang="en-US" sz="2000">
                <a:solidFill>
                  <a:srgbClr val="290606"/>
                </a:solidFill>
                <a:latin typeface="Telegraf 1"/>
                <a:ea typeface="Telegraf 1"/>
                <a:cs typeface="Telegraf 1"/>
                <a:sym typeface="Telegraf 1"/>
              </a:rPr>
              <a:t>Machine learning successfully shifts urban traffic management from reactive to highly proactive, but the deep integration turns the critical physical infrastructure into prime targets for cyberattacks and data poisoning.</a:t>
            </a:r>
          </a:p>
          <a:p>
            <a:pPr algn="ctr">
              <a:lnSpc>
                <a:spcPts val="3080"/>
              </a:lnSpc>
            </a:pPr>
            <a:endParaRPr lang="en-US" sz="2000">
              <a:solidFill>
                <a:srgbClr val="290606"/>
              </a:solidFill>
              <a:latin typeface="Telegraf 1"/>
              <a:ea typeface="Telegraf 1"/>
              <a:cs typeface="Telegraf 1"/>
              <a:sym typeface="Telegraf 1"/>
            </a:endParaRPr>
          </a:p>
        </p:txBody>
      </p:sp>
      <p:sp>
        <p:nvSpPr>
          <p:cNvPr id="16" name="TextBox 16"/>
          <p:cNvSpPr txBox="1"/>
          <p:nvPr/>
        </p:nvSpPr>
        <p:spPr>
          <a:xfrm>
            <a:off x="12158963" y="6059672"/>
            <a:ext cx="4458749" cy="2742659"/>
          </a:xfrm>
          <a:prstGeom prst="rect">
            <a:avLst/>
          </a:prstGeom>
        </p:spPr>
        <p:txBody>
          <a:bodyPr lIns="0" tIns="0" rIns="0" bIns="0" rtlCol="0" anchor="t">
            <a:spAutoFit/>
          </a:bodyPr>
          <a:lstStyle/>
          <a:p>
            <a:pPr algn="ctr">
              <a:lnSpc>
                <a:spcPts val="3080"/>
              </a:lnSpc>
            </a:pPr>
            <a:r>
              <a:rPr lang="en-US" sz="2000" dirty="0">
                <a:solidFill>
                  <a:srgbClr val="290606"/>
                </a:solidFill>
                <a:latin typeface="Telegraf 1"/>
                <a:ea typeface="Telegraf 1"/>
                <a:cs typeface="Telegraf 1"/>
                <a:sym typeface="Telegraf 1"/>
              </a:rPr>
              <a:t>The potential to solve urban congestion is endless but complicated by the legal liability of AI routing errors. Future projects must prioritize building fail-safe and highly resilient systems instead of pure algorithmic innovation.</a:t>
            </a:r>
          </a:p>
        </p:txBody>
      </p:sp>
      <p:sp>
        <p:nvSpPr>
          <p:cNvPr id="17" name="TextBox 17"/>
          <p:cNvSpPr txBox="1"/>
          <p:nvPr/>
        </p:nvSpPr>
        <p:spPr>
          <a:xfrm>
            <a:off x="7031365" y="6059672"/>
            <a:ext cx="4458749" cy="2742659"/>
          </a:xfrm>
          <a:prstGeom prst="rect">
            <a:avLst/>
          </a:prstGeom>
        </p:spPr>
        <p:txBody>
          <a:bodyPr lIns="0" tIns="0" rIns="0" bIns="0" rtlCol="0" anchor="t">
            <a:spAutoFit/>
          </a:bodyPr>
          <a:lstStyle/>
          <a:p>
            <a:pPr algn="ctr">
              <a:lnSpc>
                <a:spcPts val="3080"/>
              </a:lnSpc>
            </a:pPr>
            <a:r>
              <a:rPr lang="en-US" sz="2000">
                <a:solidFill>
                  <a:srgbClr val="290606"/>
                </a:solidFill>
                <a:latin typeface="Telegraf 1"/>
                <a:ea typeface="Telegraf 1"/>
                <a:cs typeface="Telegraf 1"/>
                <a:sym typeface="Telegraf 1"/>
              </a:rPr>
              <a:t>Seamless urban mobility requires continuous, heavy data collection from IoT sensors and cameras. Strict adherence to guidelines like the MHLG Smart City Framework is important to protect personal data and prevent mass surveillance.</a:t>
            </a:r>
          </a:p>
        </p:txBody>
      </p:sp>
      <p:sp>
        <p:nvSpPr>
          <p:cNvPr id="18" name="TextBox 18"/>
          <p:cNvSpPr txBox="1"/>
          <p:nvPr/>
        </p:nvSpPr>
        <p:spPr>
          <a:xfrm>
            <a:off x="1903766" y="5396386"/>
            <a:ext cx="4458749" cy="590563"/>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heddar"/>
                <a:ea typeface="Cheddar"/>
                <a:cs typeface="Cheddar"/>
                <a:sym typeface="Cheddar"/>
              </a:rPr>
              <a:t>IMPACT OF AI INTEGRATION</a:t>
            </a:r>
          </a:p>
        </p:txBody>
      </p:sp>
      <p:sp>
        <p:nvSpPr>
          <p:cNvPr id="19" name="TextBox 19"/>
          <p:cNvSpPr txBox="1"/>
          <p:nvPr/>
        </p:nvSpPr>
        <p:spPr>
          <a:xfrm>
            <a:off x="7510478" y="5396386"/>
            <a:ext cx="3267045" cy="590563"/>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heddar"/>
                <a:ea typeface="Cheddar"/>
                <a:cs typeface="Cheddar"/>
                <a:sym typeface="Cheddar"/>
              </a:rPr>
              <a:t>PRIVACY TRADE-OFF</a:t>
            </a:r>
          </a:p>
        </p:txBody>
      </p:sp>
      <p:sp>
        <p:nvSpPr>
          <p:cNvPr id="20" name="TextBox 20"/>
          <p:cNvSpPr txBox="1"/>
          <p:nvPr/>
        </p:nvSpPr>
        <p:spPr>
          <a:xfrm>
            <a:off x="12156863" y="5396386"/>
            <a:ext cx="4460849" cy="590563"/>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heddar"/>
                <a:ea typeface="Cheddar"/>
                <a:cs typeface="Cheddar"/>
                <a:sym typeface="Cheddar"/>
              </a:rPr>
              <a:t>CAUTIOUS OPTIMISM &amp; RESILIENCE</a:t>
            </a:r>
          </a:p>
        </p:txBody>
      </p:sp>
      <p:pic>
        <p:nvPicPr>
          <p:cNvPr id="24" name="Picture 23">
            <a:extLst>
              <a:ext uri="{FF2B5EF4-FFF2-40B4-BE49-F238E27FC236}">
                <a16:creationId xmlns:a16="http://schemas.microsoft.com/office/drawing/2014/main" id="{82D667CD-FEC9-17EE-EA8E-E3C1FB476FB4}"/>
              </a:ext>
            </a:extLst>
          </p:cNvPr>
          <p:cNvPicPr>
            <a:picLocks noChangeAspect="1"/>
          </p:cNvPicPr>
          <p:nvPr/>
        </p:nvPicPr>
        <p:blipFill>
          <a:blip r:embed="rId2"/>
          <a:srcRect t="12108"/>
          <a:stretch>
            <a:fillRect/>
          </a:stretch>
        </p:blipFill>
        <p:spPr>
          <a:xfrm>
            <a:off x="11125200" y="0"/>
            <a:ext cx="6934200" cy="34758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470</Words>
  <Application>Microsoft Office PowerPoint</Application>
  <PresentationFormat>Custom</PresentationFormat>
  <Paragraphs>71</Paragraphs>
  <Slides>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Telegraf 1 Bold</vt:lpstr>
      <vt:lpstr>Arial</vt:lpstr>
      <vt:lpstr>Cheddar</vt:lpstr>
      <vt:lpstr>Telegraf 1</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Control ML</dc:title>
  <cp:lastModifiedBy>MUHAMAD RASHIDUL BUKHARI BIN ASAN MOHAMED</cp:lastModifiedBy>
  <cp:revision>4</cp:revision>
  <dcterms:created xsi:type="dcterms:W3CDTF">2006-08-16T00:00:00Z</dcterms:created>
  <dcterms:modified xsi:type="dcterms:W3CDTF">2026-04-21T17:01:45Z</dcterms:modified>
  <dc:identifier>DAHGUTpydKY</dc:identifier>
</cp:coreProperties>
</file>